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10287000" cx="18288000"/>
  <p:notesSz cx="10287000" cy="1828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5" roundtripDataSignature="AMtx7mjgLb50HS9v9oVCa4NjuvKrJBl4D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customschemas.google.com/relationships/presentationmetadata" Target="metadata"/><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 name="Google Shape;3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 name="Google Shape;3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 name="Google Shape;5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 name="Google Shape;6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 name="Google Shape;6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 name="Google Shape;120;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 name="Google Shape;134;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 name="Google Shape;173;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3" name="Google Shape;193;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8" name="Google Shape;21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25.png"/><Relationship Id="rId9" Type="http://schemas.openxmlformats.org/officeDocument/2006/relationships/image" Target="../media/image6.png"/><Relationship Id="rId5" Type="http://schemas.openxmlformats.org/officeDocument/2006/relationships/image" Target="../media/image11.png"/><Relationship Id="rId6" Type="http://schemas.openxmlformats.org/officeDocument/2006/relationships/image" Target="../media/image8.png"/><Relationship Id="rId7" Type="http://schemas.openxmlformats.org/officeDocument/2006/relationships/image" Target="../media/image20.png"/><Relationship Id="rId8"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16.png"/><Relationship Id="rId5" Type="http://schemas.openxmlformats.org/officeDocument/2006/relationships/image" Target="../media/image14.png"/><Relationship Id="rId6"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23.png"/><Relationship Id="rId5" Type="http://schemas.openxmlformats.org/officeDocument/2006/relationships/image" Target="../media/image18.png"/><Relationship Id="rId6"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6.png"/><Relationship Id="rId4" Type="http://schemas.openxmlformats.org/officeDocument/2006/relationships/image" Target="../media/image28.png"/><Relationship Id="rId5" Type="http://schemas.openxmlformats.org/officeDocument/2006/relationships/image" Target="../media/image21.png"/><Relationship Id="rId6"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EF"/>
        </a:solidFill>
      </p:bgPr>
    </p:bg>
    <p:spTree>
      <p:nvGrpSpPr>
        <p:cNvPr id="15" name="Shape 15"/>
        <p:cNvGrpSpPr/>
        <p:nvPr/>
      </p:nvGrpSpPr>
      <p:grpSpPr>
        <a:xfrm>
          <a:off x="0" y="0"/>
          <a:ext cx="0" cy="0"/>
          <a:chOff x="0" y="0"/>
          <a:chExt cx="0" cy="0"/>
        </a:xfrm>
      </p:grpSpPr>
      <p:sp>
        <p:nvSpPr>
          <p:cNvPr id="16" name="Google Shape;16;p1"/>
          <p:cNvSpPr/>
          <p:nvPr/>
        </p:nvSpPr>
        <p:spPr>
          <a:xfrm>
            <a:off x="13335000" y="2095500"/>
            <a:ext cx="6096000" cy="6096000"/>
          </a:xfrm>
          <a:prstGeom prst="ellipse">
            <a:avLst/>
          </a:prstGeom>
          <a:noFill/>
          <a:ln cap="flat" cmpd="sng" w="19050">
            <a:solidFill>
              <a:srgbClr val="659BB9">
                <a:alpha val="12157"/>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
          <p:cNvSpPr/>
          <p:nvPr/>
        </p:nvSpPr>
        <p:spPr>
          <a:xfrm>
            <a:off x="13906500" y="3333750"/>
            <a:ext cx="3619500" cy="3619500"/>
          </a:xfrm>
          <a:prstGeom prst="ellipse">
            <a:avLst/>
          </a:prstGeom>
          <a:noFill/>
          <a:ln cap="flat" cmpd="sng" w="12700">
            <a:solidFill>
              <a:srgbClr val="659BB9">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1"/>
          <p:cNvSpPr/>
          <p:nvPr/>
        </p:nvSpPr>
        <p:spPr>
          <a:xfrm>
            <a:off x="0" y="0"/>
            <a:ext cx="76200" cy="10287000"/>
          </a:xfrm>
          <a:prstGeom prst="rect">
            <a:avLst/>
          </a:prstGeom>
          <a:solidFill>
            <a:srgbClr val="659B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1"/>
          <p:cNvSpPr/>
          <p:nvPr/>
        </p:nvSpPr>
        <p:spPr>
          <a:xfrm>
            <a:off x="762000" y="2614613"/>
            <a:ext cx="18021300" cy="3048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659BB9"/>
              </a:buClr>
              <a:buSzPts val="1800"/>
              <a:buFont typeface="Arial"/>
              <a:buNone/>
            </a:pPr>
            <a:r>
              <a:rPr b="0" i="0" lang="en-US" sz="1800" u="none" cap="none" strike="noStrike">
                <a:solidFill>
                  <a:srgbClr val="659BB9"/>
                </a:solidFill>
                <a:latin typeface="Arial"/>
                <a:ea typeface="Arial"/>
                <a:cs typeface="Arial"/>
                <a:sym typeface="Arial"/>
              </a:rPr>
              <a:t>FIGO · CUSTOMER ANALYTICS</a:t>
            </a:r>
            <a:endParaRPr b="0" i="0" sz="1800" u="none" cap="none" strike="noStrike">
              <a:solidFill>
                <a:schemeClr val="dk1"/>
              </a:solidFill>
              <a:latin typeface="Calibri"/>
              <a:ea typeface="Calibri"/>
              <a:cs typeface="Calibri"/>
              <a:sym typeface="Calibri"/>
            </a:endParaRPr>
          </a:p>
        </p:txBody>
      </p:sp>
      <p:sp>
        <p:nvSpPr>
          <p:cNvPr id="20" name="Google Shape;20;p1"/>
          <p:cNvSpPr/>
          <p:nvPr/>
        </p:nvSpPr>
        <p:spPr>
          <a:xfrm>
            <a:off x="762000" y="3148013"/>
            <a:ext cx="685800" cy="47625"/>
          </a:xfrm>
          <a:prstGeom prst="roundRect">
            <a:avLst>
              <a:gd fmla="val 50000" name="adj"/>
            </a:avLst>
          </a:prstGeom>
          <a:solidFill>
            <a:srgbClr val="659B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1"/>
          <p:cNvSpPr/>
          <p:nvPr/>
        </p:nvSpPr>
        <p:spPr>
          <a:xfrm>
            <a:off x="762000" y="3614750"/>
            <a:ext cx="13530600" cy="19431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2F4156"/>
              </a:buClr>
              <a:buSzPts val="7500"/>
              <a:buFont typeface="Arial"/>
              <a:buNone/>
            </a:pPr>
            <a:r>
              <a:rPr b="1" i="0" lang="en-US" sz="7500" u="none" cap="none" strike="noStrike">
                <a:solidFill>
                  <a:srgbClr val="2F4156"/>
                </a:solidFill>
                <a:latin typeface="Arial"/>
                <a:ea typeface="Arial"/>
                <a:cs typeface="Arial"/>
                <a:sym typeface="Arial"/>
              </a:rPr>
              <a:t>Predicting Customer Churn</a:t>
            </a:r>
            <a:endParaRPr b="0" i="0" sz="7500" u="none" cap="none" strike="noStrike">
              <a:solidFill>
                <a:schemeClr val="dk1"/>
              </a:solidFill>
              <a:latin typeface="Calibri"/>
              <a:ea typeface="Calibri"/>
              <a:cs typeface="Calibri"/>
              <a:sym typeface="Calibri"/>
            </a:endParaRPr>
          </a:p>
        </p:txBody>
      </p:sp>
      <p:sp>
        <p:nvSpPr>
          <p:cNvPr id="22" name="Google Shape;22;p1"/>
          <p:cNvSpPr/>
          <p:nvPr/>
        </p:nvSpPr>
        <p:spPr>
          <a:xfrm>
            <a:off x="762000" y="5786438"/>
            <a:ext cx="8437245" cy="1085850"/>
          </a:xfrm>
          <a:prstGeom prst="rect">
            <a:avLst/>
          </a:prstGeom>
          <a:noFill/>
          <a:ln>
            <a:noFill/>
          </a:ln>
        </p:spPr>
        <p:txBody>
          <a:bodyPr anchorCtr="0" anchor="t" bIns="25400" lIns="25400" spcFirstLastPara="1" rIns="25400" wrap="square" tIns="25400">
            <a:normAutofit/>
          </a:bodyPr>
          <a:lstStyle/>
          <a:p>
            <a:pPr indent="0" lvl="0" marL="0" marR="0" rtl="0" algn="l">
              <a:lnSpc>
                <a:spcPct val="125000"/>
              </a:lnSpc>
              <a:spcBef>
                <a:spcPts val="0"/>
              </a:spcBef>
              <a:spcAft>
                <a:spcPts val="0"/>
              </a:spcAft>
              <a:buClr>
                <a:srgbClr val="4D7FA0"/>
              </a:buClr>
              <a:buSzPts val="3300"/>
              <a:buFont typeface="Arial"/>
              <a:buNone/>
            </a:pPr>
            <a:r>
              <a:rPr b="0" i="0" lang="en-US" sz="3300" u="none" cap="none" strike="noStrike">
                <a:solidFill>
                  <a:srgbClr val="4D7FA0"/>
                </a:solidFill>
                <a:latin typeface="Arial"/>
                <a:ea typeface="Arial"/>
                <a:cs typeface="Arial"/>
                <a:sym typeface="Arial"/>
              </a:rPr>
              <a:t>Turning two years of till receipts into a weekly list of customers worth saving</a:t>
            </a:r>
            <a:endParaRPr b="0" i="0" sz="3300" u="none" cap="none" strike="noStrike">
              <a:solidFill>
                <a:schemeClr val="dk1"/>
              </a:solidFill>
              <a:latin typeface="Calibri"/>
              <a:ea typeface="Calibri"/>
              <a:cs typeface="Calibri"/>
              <a:sym typeface="Calibri"/>
            </a:endParaRPr>
          </a:p>
        </p:txBody>
      </p:sp>
      <p:sp>
        <p:nvSpPr>
          <p:cNvPr id="23" name="Google Shape;23;p1"/>
          <p:cNvSpPr/>
          <p:nvPr/>
        </p:nvSpPr>
        <p:spPr>
          <a:xfrm>
            <a:off x="762000" y="7658100"/>
            <a:ext cx="457200" cy="28575"/>
          </a:xfrm>
          <a:prstGeom prst="roundRect">
            <a:avLst>
              <a:gd fmla="val 50000" name="adj"/>
            </a:avLst>
          </a:prstGeom>
          <a:solidFill>
            <a:srgbClr val="659B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1"/>
          <p:cNvSpPr/>
          <p:nvPr/>
        </p:nvSpPr>
        <p:spPr>
          <a:xfrm>
            <a:off x="1447800" y="7519988"/>
            <a:ext cx="3293973" cy="3429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7A8E9E"/>
              </a:buClr>
              <a:buSzPts val="2100"/>
              <a:buFont typeface="Arial"/>
              <a:buNone/>
            </a:pPr>
            <a:r>
              <a:rPr b="0" i="0" lang="en-US" sz="2100" u="none" cap="none" strike="noStrike">
                <a:solidFill>
                  <a:srgbClr val="7A8E9E"/>
                </a:solidFill>
                <a:latin typeface="Arial"/>
                <a:ea typeface="Arial"/>
                <a:cs typeface="Arial"/>
                <a:sym typeface="Arial"/>
              </a:rPr>
              <a:t>Figo Data · August 2026</a:t>
            </a:r>
            <a:endParaRPr b="0" i="0" sz="2100" u="none" cap="none" strike="noStrike">
              <a:solidFill>
                <a:schemeClr val="dk1"/>
              </a:solidFill>
              <a:latin typeface="Calibri"/>
              <a:ea typeface="Calibri"/>
              <a:cs typeface="Calibri"/>
              <a:sym typeface="Calibri"/>
            </a:endParaRPr>
          </a:p>
        </p:txBody>
      </p:sp>
      <p:pic>
        <p:nvPicPr>
          <p:cNvPr descr="preencoded.png" id="25" name="Google Shape;25;p1"/>
          <p:cNvPicPr preferRelativeResize="0"/>
          <p:nvPr/>
        </p:nvPicPr>
        <p:blipFill rotWithShape="1">
          <a:blip r:embed="rId3">
            <a:alphaModFix/>
          </a:blip>
          <a:srcRect b="0" l="0" r="0" t="0"/>
          <a:stretch/>
        </p:blipFill>
        <p:spPr>
          <a:xfrm>
            <a:off x="15240000" y="7827466"/>
            <a:ext cx="1905000" cy="1773734"/>
          </a:xfrm>
          <a:prstGeom prst="rect">
            <a:avLst/>
          </a:prstGeom>
          <a:noFill/>
          <a:ln>
            <a:noFill/>
          </a:ln>
        </p:spPr>
      </p:pic>
      <p:pic>
        <p:nvPicPr>
          <p:cNvPr descr="preencoded.png" id="26" name="Google Shape;26;p1"/>
          <p:cNvPicPr preferRelativeResize="0"/>
          <p:nvPr/>
        </p:nvPicPr>
        <p:blipFill rotWithShape="1">
          <a:blip r:embed="rId4">
            <a:alphaModFix/>
          </a:blip>
          <a:srcRect b="0" l="0" r="0" t="0"/>
          <a:stretch/>
        </p:blipFill>
        <p:spPr>
          <a:xfrm>
            <a:off x="15525750" y="1428750"/>
            <a:ext cx="285750" cy="285750"/>
          </a:xfrm>
          <a:prstGeom prst="rect">
            <a:avLst/>
          </a:prstGeom>
          <a:noFill/>
          <a:ln>
            <a:noFill/>
          </a:ln>
        </p:spPr>
      </p:pic>
      <p:pic>
        <p:nvPicPr>
          <p:cNvPr descr="preencoded.png" id="27" name="Google Shape;27;p1"/>
          <p:cNvPicPr preferRelativeResize="0"/>
          <p:nvPr/>
        </p:nvPicPr>
        <p:blipFill rotWithShape="1">
          <a:blip r:embed="rId5">
            <a:alphaModFix/>
          </a:blip>
          <a:srcRect b="0" l="0" r="0" t="0"/>
          <a:stretch/>
        </p:blipFill>
        <p:spPr>
          <a:xfrm>
            <a:off x="14516100" y="2286000"/>
            <a:ext cx="152400" cy="152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EF"/>
        </a:solidFill>
      </p:bgPr>
    </p:bg>
    <p:spTree>
      <p:nvGrpSpPr>
        <p:cNvPr id="32" name="Shape 32"/>
        <p:cNvGrpSpPr/>
        <p:nvPr/>
      </p:nvGrpSpPr>
      <p:grpSpPr>
        <a:xfrm>
          <a:off x="0" y="0"/>
          <a:ext cx="0" cy="0"/>
          <a:chOff x="0" y="0"/>
          <a:chExt cx="0" cy="0"/>
        </a:xfrm>
      </p:grpSpPr>
      <p:sp>
        <p:nvSpPr>
          <p:cNvPr id="33" name="Google Shape;33;p12"/>
          <p:cNvSpPr/>
          <p:nvPr/>
        </p:nvSpPr>
        <p:spPr>
          <a:xfrm>
            <a:off x="1143000" y="838200"/>
            <a:ext cx="17602200" cy="696416"/>
          </a:xfrm>
          <a:prstGeom prst="rect">
            <a:avLst/>
          </a:prstGeom>
          <a:noFill/>
          <a:ln>
            <a:noFill/>
          </a:ln>
        </p:spPr>
        <p:txBody>
          <a:bodyPr anchorCtr="0" anchor="t" bIns="25400" lIns="25400" spcFirstLastPara="1" rIns="25400" wrap="square" tIns="25400">
            <a:normAutofit/>
          </a:bodyPr>
          <a:lstStyle/>
          <a:p>
            <a:pPr indent="0" lvl="0" marL="0" marR="0" rtl="0" algn="l">
              <a:lnSpc>
                <a:spcPct val="108000"/>
              </a:lnSpc>
              <a:spcBef>
                <a:spcPts val="0"/>
              </a:spcBef>
              <a:spcAft>
                <a:spcPts val="0"/>
              </a:spcAft>
              <a:buClr>
                <a:srgbClr val="2F4156"/>
              </a:buClr>
              <a:buSzPts val="4800"/>
              <a:buFont typeface="Arial"/>
              <a:buNone/>
            </a:pPr>
            <a:r>
              <a:rPr b="1" i="0" lang="en-US" sz="4800" u="none" cap="none" strike="noStrike">
                <a:solidFill>
                  <a:srgbClr val="2F4156"/>
                </a:solidFill>
                <a:latin typeface="Arial"/>
                <a:ea typeface="Arial"/>
                <a:cs typeface="Arial"/>
                <a:sym typeface="Arial"/>
              </a:rPr>
              <a:t>The Customer Who Never Says Goodbye</a:t>
            </a:r>
            <a:endParaRPr b="0" i="0" sz="4800" u="none" cap="none" strike="noStrike">
              <a:solidFill>
                <a:schemeClr val="dk1"/>
              </a:solidFill>
              <a:latin typeface="Calibri"/>
              <a:ea typeface="Calibri"/>
              <a:cs typeface="Calibri"/>
              <a:sym typeface="Calibri"/>
            </a:endParaRPr>
          </a:p>
        </p:txBody>
      </p:sp>
      <p:sp>
        <p:nvSpPr>
          <p:cNvPr id="34" name="Google Shape;34;p12"/>
          <p:cNvSpPr/>
          <p:nvPr/>
        </p:nvSpPr>
        <p:spPr>
          <a:xfrm>
            <a:off x="1143000" y="1915617"/>
            <a:ext cx="609600" cy="38100"/>
          </a:xfrm>
          <a:prstGeom prst="roundRect">
            <a:avLst>
              <a:gd fmla="val 50000" name="adj"/>
            </a:avLst>
          </a:prstGeom>
          <a:solidFill>
            <a:srgbClr val="659B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12"/>
          <p:cNvSpPr/>
          <p:nvPr/>
        </p:nvSpPr>
        <p:spPr>
          <a:xfrm>
            <a:off x="1143000" y="3992175"/>
            <a:ext cx="7790100" cy="3048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659BB9"/>
              </a:buClr>
              <a:buSzPts val="1800"/>
              <a:buFont typeface="Arial"/>
              <a:buNone/>
            </a:pPr>
            <a:r>
              <a:rPr b="0" i="0" lang="en-US" sz="1800" u="none" cap="none" strike="noStrike">
                <a:solidFill>
                  <a:srgbClr val="659BB9"/>
                </a:solidFill>
                <a:latin typeface="Arial"/>
                <a:ea typeface="Arial"/>
                <a:cs typeface="Arial"/>
                <a:sym typeface="Arial"/>
              </a:rPr>
              <a:t>CONTEXT</a:t>
            </a:r>
            <a:endParaRPr b="0" i="0" sz="1800" u="none" cap="none" strike="noStrike">
              <a:solidFill>
                <a:schemeClr val="dk1"/>
              </a:solidFill>
              <a:latin typeface="Calibri"/>
              <a:ea typeface="Calibri"/>
              <a:cs typeface="Calibri"/>
              <a:sym typeface="Calibri"/>
            </a:endParaRPr>
          </a:p>
        </p:txBody>
      </p:sp>
      <p:sp>
        <p:nvSpPr>
          <p:cNvPr id="36" name="Google Shape;36;p12"/>
          <p:cNvSpPr/>
          <p:nvPr/>
        </p:nvSpPr>
        <p:spPr>
          <a:xfrm>
            <a:off x="1143000" y="4411275"/>
            <a:ext cx="7790100" cy="5409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2F4156"/>
              </a:buClr>
              <a:buSzPts val="3600"/>
              <a:buFont typeface="Arial"/>
              <a:buNone/>
            </a:pPr>
            <a:r>
              <a:rPr b="1" i="0" lang="en-US" sz="3600" u="none" cap="none" strike="noStrike">
                <a:solidFill>
                  <a:srgbClr val="2F4156"/>
                </a:solidFill>
                <a:latin typeface="Arial"/>
                <a:ea typeface="Arial"/>
                <a:cs typeface="Arial"/>
                <a:sym typeface="Arial"/>
              </a:rPr>
              <a:t>The Problem</a:t>
            </a:r>
            <a:endParaRPr b="0" i="0" sz="3600" u="none" cap="none" strike="noStrike">
              <a:solidFill>
                <a:schemeClr val="dk1"/>
              </a:solidFill>
              <a:latin typeface="Calibri"/>
              <a:ea typeface="Calibri"/>
              <a:cs typeface="Calibri"/>
              <a:sym typeface="Calibri"/>
            </a:endParaRPr>
          </a:p>
        </p:txBody>
      </p:sp>
      <p:sp>
        <p:nvSpPr>
          <p:cNvPr id="37" name="Google Shape;37;p12"/>
          <p:cNvSpPr/>
          <p:nvPr/>
        </p:nvSpPr>
        <p:spPr>
          <a:xfrm>
            <a:off x="1143000" y="5180816"/>
            <a:ext cx="7294200" cy="8382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4A5A6A"/>
              </a:buClr>
              <a:buSzPts val="2100"/>
              <a:buFont typeface="Arial"/>
              <a:buNone/>
            </a:pPr>
            <a:r>
              <a:rPr b="0" i="0" lang="en-US" sz="2100" u="none" cap="none" strike="noStrike">
                <a:solidFill>
                  <a:srgbClr val="4A5A6A"/>
                </a:solidFill>
                <a:latin typeface="Arial"/>
                <a:ea typeface="Arial"/>
                <a:cs typeface="Arial"/>
                <a:sym typeface="Arial"/>
              </a:rPr>
              <a:t>Grocery customers never cancel. They simply stop coming, and by the time the absence is obvious the relationship is already over. There is no cancellation event to react to and nothing in the weekly sales report that separates a quiet month from a customer who has gone for good.</a:t>
            </a:r>
            <a:endParaRPr b="0" i="0" sz="2100" u="none" cap="none" strike="noStrike">
              <a:solidFill>
                <a:schemeClr val="dk1"/>
              </a:solidFill>
              <a:latin typeface="Calibri"/>
              <a:ea typeface="Calibri"/>
              <a:cs typeface="Calibri"/>
              <a:sym typeface="Calibri"/>
            </a:endParaRPr>
          </a:p>
        </p:txBody>
      </p:sp>
      <p:sp>
        <p:nvSpPr>
          <p:cNvPr id="38" name="Google Shape;38;p12"/>
          <p:cNvSpPr/>
          <p:nvPr/>
        </p:nvSpPr>
        <p:spPr>
          <a:xfrm>
            <a:off x="1143000" y="8179948"/>
            <a:ext cx="7790100" cy="438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2F4156"/>
              </a:buClr>
              <a:buSzPts val="2100"/>
              <a:buFont typeface="Arial"/>
              <a:buNone/>
            </a:pPr>
            <a:r>
              <a:rPr b="1" i="0" lang="en-US" sz="2100" u="none" cap="none" strike="noStrike">
                <a:solidFill>
                  <a:srgbClr val="2F4156"/>
                </a:solidFill>
                <a:latin typeface="Arial"/>
                <a:ea typeface="Arial"/>
                <a:cs typeface="Arial"/>
                <a:sym typeface="Arial"/>
              </a:rPr>
              <a:t>Who is affected: </a:t>
            </a:r>
            <a:r>
              <a:rPr b="0" i="0" lang="en-US" sz="2100" u="none" cap="none" strike="noStrike">
                <a:solidFill>
                  <a:srgbClr val="4A5A6A"/>
                </a:solidFill>
                <a:latin typeface="Arial"/>
                <a:ea typeface="Arial"/>
                <a:cs typeface="Arial"/>
                <a:sym typeface="Arial"/>
              </a:rPr>
              <a:t>retention, marketing and store operations</a:t>
            </a:r>
            <a:endParaRPr b="0" i="0" sz="2100" u="none" cap="none" strike="noStrike">
              <a:solidFill>
                <a:schemeClr val="dk1"/>
              </a:solidFill>
              <a:latin typeface="Calibri"/>
              <a:ea typeface="Calibri"/>
              <a:cs typeface="Calibri"/>
              <a:sym typeface="Calibri"/>
            </a:endParaRPr>
          </a:p>
        </p:txBody>
      </p:sp>
      <p:sp>
        <p:nvSpPr>
          <p:cNvPr id="39" name="Google Shape;39;p12"/>
          <p:cNvSpPr/>
          <p:nvPr/>
        </p:nvSpPr>
        <p:spPr>
          <a:xfrm>
            <a:off x="1143000" y="8743166"/>
            <a:ext cx="7294200" cy="8382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2F4156"/>
              </a:buClr>
              <a:buSzPts val="2100"/>
              <a:buFont typeface="Arial"/>
              <a:buNone/>
            </a:pPr>
            <a:r>
              <a:rPr b="1" i="0" lang="en-US" sz="2100" u="none" cap="none" strike="noStrike">
                <a:solidFill>
                  <a:srgbClr val="2F4156"/>
                </a:solidFill>
                <a:latin typeface="Arial"/>
                <a:ea typeface="Arial"/>
                <a:cs typeface="Arial"/>
                <a:sym typeface="Arial"/>
              </a:rPr>
              <a:t>What it costs: </a:t>
            </a:r>
            <a:r>
              <a:rPr b="0" i="0" lang="en-US" sz="2100" u="none" cap="none" strike="noStrike">
                <a:solidFill>
                  <a:srgbClr val="4A5A6A"/>
                </a:solidFill>
                <a:latin typeface="Arial"/>
                <a:ea typeface="Arial"/>
                <a:cs typeface="Arial"/>
                <a:sym typeface="Arial"/>
              </a:rPr>
              <a:t>revenue that leaves quietly and is rarely won back</a:t>
            </a:r>
            <a:endParaRPr b="0" i="0" sz="2100" u="none" cap="none" strike="noStrike">
              <a:solidFill>
                <a:schemeClr val="dk1"/>
              </a:solidFill>
              <a:latin typeface="Calibri"/>
              <a:ea typeface="Calibri"/>
              <a:cs typeface="Calibri"/>
              <a:sym typeface="Calibri"/>
            </a:endParaRPr>
          </a:p>
        </p:txBody>
      </p:sp>
      <p:sp>
        <p:nvSpPr>
          <p:cNvPr id="40" name="Google Shape;40;p12"/>
          <p:cNvSpPr/>
          <p:nvPr/>
        </p:nvSpPr>
        <p:spPr>
          <a:xfrm>
            <a:off x="8834438" y="4898335"/>
            <a:ext cx="9600" cy="7277100"/>
          </a:xfrm>
          <a:prstGeom prst="rect">
            <a:avLst/>
          </a:prstGeom>
          <a:solidFill>
            <a:srgbClr val="659BB9">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12"/>
          <p:cNvSpPr/>
          <p:nvPr/>
        </p:nvSpPr>
        <p:spPr>
          <a:xfrm>
            <a:off x="9453563" y="3992175"/>
            <a:ext cx="7790100" cy="3048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2F4156"/>
              </a:buClr>
              <a:buSzPts val="1800"/>
              <a:buFont typeface="Arial"/>
              <a:buNone/>
            </a:pPr>
            <a:r>
              <a:rPr b="0" i="0" lang="en-US" sz="1800" u="none" cap="none" strike="noStrike">
                <a:solidFill>
                  <a:srgbClr val="2F4156"/>
                </a:solidFill>
                <a:latin typeface="Arial"/>
                <a:ea typeface="Arial"/>
                <a:cs typeface="Arial"/>
                <a:sym typeface="Arial"/>
              </a:rPr>
              <a:t>SOLUTION</a:t>
            </a:r>
            <a:endParaRPr b="0" i="0" sz="1800" u="none" cap="none" strike="noStrike">
              <a:solidFill>
                <a:schemeClr val="dk1"/>
              </a:solidFill>
              <a:latin typeface="Calibri"/>
              <a:ea typeface="Calibri"/>
              <a:cs typeface="Calibri"/>
              <a:sym typeface="Calibri"/>
            </a:endParaRPr>
          </a:p>
        </p:txBody>
      </p:sp>
      <p:sp>
        <p:nvSpPr>
          <p:cNvPr id="42" name="Google Shape;42;p12"/>
          <p:cNvSpPr/>
          <p:nvPr/>
        </p:nvSpPr>
        <p:spPr>
          <a:xfrm>
            <a:off x="9453563" y="4411275"/>
            <a:ext cx="7790100" cy="5409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2F4156"/>
              </a:buClr>
              <a:buSzPts val="3600"/>
              <a:buFont typeface="Arial"/>
              <a:buNone/>
            </a:pPr>
            <a:r>
              <a:rPr b="1" i="0" lang="en-US" sz="3600" u="none" cap="none" strike="noStrike">
                <a:solidFill>
                  <a:srgbClr val="2F4156"/>
                </a:solidFill>
                <a:latin typeface="Arial"/>
                <a:ea typeface="Arial"/>
                <a:cs typeface="Arial"/>
                <a:sym typeface="Arial"/>
              </a:rPr>
              <a:t>The Approach</a:t>
            </a:r>
            <a:endParaRPr b="0" i="0" sz="3600" u="none" cap="none" strike="noStrike">
              <a:solidFill>
                <a:schemeClr val="dk1"/>
              </a:solidFill>
              <a:latin typeface="Calibri"/>
              <a:ea typeface="Calibri"/>
              <a:cs typeface="Calibri"/>
              <a:sym typeface="Calibri"/>
            </a:endParaRPr>
          </a:p>
        </p:txBody>
      </p:sp>
      <p:sp>
        <p:nvSpPr>
          <p:cNvPr id="43" name="Google Shape;43;p12"/>
          <p:cNvSpPr/>
          <p:nvPr/>
        </p:nvSpPr>
        <p:spPr>
          <a:xfrm>
            <a:off x="8843976" y="2552700"/>
            <a:ext cx="8668800" cy="7734300"/>
          </a:xfrm>
          <a:prstGeom prst="rect">
            <a:avLst/>
          </a:prstGeom>
          <a:solidFill>
            <a:srgbClr val="659BB9">
              <a:alpha val="1215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12"/>
          <p:cNvSpPr/>
          <p:nvPr/>
        </p:nvSpPr>
        <p:spPr>
          <a:xfrm>
            <a:off x="9453563" y="5180816"/>
            <a:ext cx="7294200" cy="8382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4A5A6A"/>
              </a:buClr>
              <a:buSzPts val="2100"/>
              <a:buFont typeface="Arial"/>
              <a:buNone/>
            </a:pPr>
            <a:r>
              <a:rPr b="0" i="0" lang="en-US" sz="2100" u="none" cap="none" strike="noStrike">
                <a:solidFill>
                  <a:srgbClr val="4A5A6A"/>
                </a:solidFill>
                <a:latin typeface="Arial"/>
                <a:ea typeface="Arial"/>
                <a:cs typeface="Arial"/>
                <a:sym typeface="Arial"/>
              </a:rPr>
              <a:t>A model reads each household’s recent shopping behaviour and estimates the chance they stop buying over the next four weeks. Because it looks forward rather than back, the team is told who is at risk while there is still time to act on it.</a:t>
            </a:r>
            <a:endParaRPr b="0" i="0" sz="2100" u="none" cap="none" strike="noStrike">
              <a:solidFill>
                <a:schemeClr val="dk1"/>
              </a:solidFill>
              <a:latin typeface="Calibri"/>
              <a:ea typeface="Calibri"/>
              <a:cs typeface="Calibri"/>
              <a:sym typeface="Calibri"/>
            </a:endParaRPr>
          </a:p>
        </p:txBody>
      </p:sp>
      <p:sp>
        <p:nvSpPr>
          <p:cNvPr id="45" name="Google Shape;45;p12"/>
          <p:cNvSpPr/>
          <p:nvPr/>
        </p:nvSpPr>
        <p:spPr>
          <a:xfrm>
            <a:off x="9453563" y="8179948"/>
            <a:ext cx="7294200" cy="8382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2F4156"/>
              </a:buClr>
              <a:buSzPts val="2100"/>
              <a:buFont typeface="Arial"/>
              <a:buNone/>
            </a:pPr>
            <a:r>
              <a:rPr b="1" i="0" lang="en-US" sz="2100" u="none" cap="none" strike="noStrike">
                <a:solidFill>
                  <a:srgbClr val="2F4156"/>
                </a:solidFill>
                <a:latin typeface="Arial"/>
                <a:ea typeface="Arial"/>
                <a:cs typeface="Arial"/>
                <a:sym typeface="Arial"/>
              </a:rPr>
              <a:t>How it works: </a:t>
            </a:r>
            <a:r>
              <a:rPr b="0" i="0" lang="en-US" sz="2100" u="none" cap="none" strike="noStrike">
                <a:solidFill>
                  <a:srgbClr val="4A5A6A"/>
                </a:solidFill>
                <a:latin typeface="Arial"/>
                <a:ea typeface="Arial"/>
                <a:cs typeface="Arial"/>
                <a:sym typeface="Arial"/>
              </a:rPr>
              <a:t>behavioural scoring, ranked highest risk first</a:t>
            </a:r>
            <a:endParaRPr b="0" i="0" sz="2100" u="none" cap="none" strike="noStrike">
              <a:solidFill>
                <a:schemeClr val="dk1"/>
              </a:solidFill>
              <a:latin typeface="Calibri"/>
              <a:ea typeface="Calibri"/>
              <a:cs typeface="Calibri"/>
              <a:sym typeface="Calibri"/>
            </a:endParaRPr>
          </a:p>
        </p:txBody>
      </p:sp>
      <p:sp>
        <p:nvSpPr>
          <p:cNvPr id="46" name="Google Shape;46;p12"/>
          <p:cNvSpPr/>
          <p:nvPr/>
        </p:nvSpPr>
        <p:spPr>
          <a:xfrm>
            <a:off x="9453513" y="8743166"/>
            <a:ext cx="7790100" cy="438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2F4156"/>
              </a:buClr>
              <a:buSzPts val="2100"/>
              <a:buFont typeface="Arial"/>
              <a:buNone/>
            </a:pPr>
            <a:r>
              <a:rPr b="1" i="0" lang="en-US" sz="2100" u="none" cap="none" strike="noStrike">
                <a:solidFill>
                  <a:srgbClr val="2F4156"/>
                </a:solidFill>
                <a:latin typeface="Arial"/>
                <a:ea typeface="Arial"/>
                <a:cs typeface="Arial"/>
                <a:sym typeface="Arial"/>
              </a:rPr>
              <a:t>What you get: </a:t>
            </a:r>
            <a:r>
              <a:rPr b="0" i="0" lang="en-US" sz="2100" u="none" cap="none" strike="noStrike">
                <a:solidFill>
                  <a:srgbClr val="4A5A6A"/>
                </a:solidFill>
                <a:latin typeface="Arial"/>
                <a:ea typeface="Arial"/>
                <a:cs typeface="Arial"/>
                <a:sym typeface="Arial"/>
              </a:rPr>
              <a:t>a weekly list where 3 in 4 names are real leavers</a:t>
            </a:r>
            <a:endParaRPr b="0" i="0" sz="21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EF"/>
        </a:solidFill>
      </p:bgPr>
    </p:bg>
    <p:spTree>
      <p:nvGrpSpPr>
        <p:cNvPr id="51" name="Shape 51"/>
        <p:cNvGrpSpPr/>
        <p:nvPr/>
      </p:nvGrpSpPr>
      <p:grpSpPr>
        <a:xfrm>
          <a:off x="0" y="0"/>
          <a:ext cx="0" cy="0"/>
          <a:chOff x="0" y="0"/>
          <a:chExt cx="0" cy="0"/>
        </a:xfrm>
      </p:grpSpPr>
      <p:sp>
        <p:nvSpPr>
          <p:cNvPr id="52" name="Google Shape;52;p5"/>
          <p:cNvSpPr/>
          <p:nvPr/>
        </p:nvSpPr>
        <p:spPr>
          <a:xfrm>
            <a:off x="1143000" y="838200"/>
            <a:ext cx="10455454" cy="3048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659BB9"/>
              </a:buClr>
              <a:buSzPts val="1800"/>
              <a:buFont typeface="Arial"/>
              <a:buNone/>
            </a:pPr>
            <a:r>
              <a:rPr b="0" i="0" lang="en-US" sz="1800" u="none" cap="none" strike="noStrike">
                <a:solidFill>
                  <a:srgbClr val="659BB9"/>
                </a:solidFill>
                <a:latin typeface="Arial"/>
                <a:ea typeface="Arial"/>
                <a:cs typeface="Arial"/>
                <a:sym typeface="Arial"/>
              </a:rPr>
              <a:t>HOW IT STAYS HONEST</a:t>
            </a:r>
            <a:endParaRPr b="0" i="0" sz="1800" u="none" cap="none" strike="noStrike">
              <a:solidFill>
                <a:schemeClr val="dk1"/>
              </a:solidFill>
              <a:latin typeface="Calibri"/>
              <a:ea typeface="Calibri"/>
              <a:cs typeface="Calibri"/>
              <a:sym typeface="Calibri"/>
            </a:endParaRPr>
          </a:p>
        </p:txBody>
      </p:sp>
      <p:sp>
        <p:nvSpPr>
          <p:cNvPr id="53" name="Google Shape;53;p5"/>
          <p:cNvSpPr/>
          <p:nvPr/>
        </p:nvSpPr>
        <p:spPr>
          <a:xfrm>
            <a:off x="1143000" y="1257300"/>
            <a:ext cx="9790107" cy="1354733"/>
          </a:xfrm>
          <a:prstGeom prst="rect">
            <a:avLst/>
          </a:prstGeom>
          <a:noFill/>
          <a:ln>
            <a:noFill/>
          </a:ln>
        </p:spPr>
        <p:txBody>
          <a:bodyPr anchorCtr="0" anchor="t" bIns="25400" lIns="25400" spcFirstLastPara="1" rIns="25400" wrap="square" tIns="25400">
            <a:normAutofit/>
          </a:bodyPr>
          <a:lstStyle/>
          <a:p>
            <a:pPr indent="0" lvl="0" marL="0" marR="0" rtl="0" algn="l">
              <a:lnSpc>
                <a:spcPct val="108000"/>
              </a:lnSpc>
              <a:spcBef>
                <a:spcPts val="0"/>
              </a:spcBef>
              <a:spcAft>
                <a:spcPts val="0"/>
              </a:spcAft>
              <a:buClr>
                <a:srgbClr val="2F4156"/>
              </a:buClr>
              <a:buSzPts val="4800"/>
              <a:buFont typeface="Arial"/>
              <a:buNone/>
            </a:pPr>
            <a:r>
              <a:rPr b="1" i="0" lang="en-US" sz="4800" u="none" cap="none" strike="noStrike">
                <a:solidFill>
                  <a:srgbClr val="2F4156"/>
                </a:solidFill>
                <a:latin typeface="Arial"/>
                <a:ea typeface="Arial"/>
                <a:cs typeface="Arial"/>
                <a:sym typeface="Arial"/>
              </a:rPr>
              <a:t>What the Model Is Allowed to See</a:t>
            </a:r>
            <a:endParaRPr b="0" i="0" sz="4800" u="none" cap="none" strike="noStrike">
              <a:solidFill>
                <a:schemeClr val="dk1"/>
              </a:solidFill>
              <a:latin typeface="Calibri"/>
              <a:ea typeface="Calibri"/>
              <a:cs typeface="Calibri"/>
              <a:sym typeface="Calibri"/>
            </a:endParaRPr>
          </a:p>
        </p:txBody>
      </p:sp>
      <p:sp>
        <p:nvSpPr>
          <p:cNvPr id="54" name="Google Shape;54;p5"/>
          <p:cNvSpPr/>
          <p:nvPr/>
        </p:nvSpPr>
        <p:spPr>
          <a:xfrm>
            <a:off x="1143000" y="2993033"/>
            <a:ext cx="609600" cy="38100"/>
          </a:xfrm>
          <a:prstGeom prst="roundRect">
            <a:avLst>
              <a:gd fmla="val 50000" name="adj"/>
            </a:avLst>
          </a:prstGeom>
          <a:solidFill>
            <a:srgbClr val="659B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5"/>
          <p:cNvSpPr/>
          <p:nvPr/>
        </p:nvSpPr>
        <p:spPr>
          <a:xfrm>
            <a:off x="1143000" y="3450233"/>
            <a:ext cx="8241030" cy="2045891"/>
          </a:xfrm>
          <a:prstGeom prst="rect">
            <a:avLst/>
          </a:prstGeom>
          <a:noFill/>
          <a:ln>
            <a:noFill/>
          </a:ln>
        </p:spPr>
        <p:txBody>
          <a:bodyPr anchorCtr="0" anchor="t" bIns="25400" lIns="25400" spcFirstLastPara="1" rIns="25400" wrap="square" tIns="25400">
            <a:normAutofit/>
          </a:bodyPr>
          <a:lstStyle/>
          <a:p>
            <a:pPr indent="0" lvl="0" marL="0" marR="0" rtl="0" algn="l">
              <a:lnSpc>
                <a:spcPct val="155000"/>
              </a:lnSpc>
              <a:spcBef>
                <a:spcPts val="0"/>
              </a:spcBef>
              <a:spcAft>
                <a:spcPts val="0"/>
              </a:spcAft>
              <a:buClr>
                <a:srgbClr val="4A5A6A"/>
              </a:buClr>
              <a:buSzPts val="2550"/>
              <a:buFont typeface="Arial"/>
              <a:buNone/>
            </a:pPr>
            <a:r>
              <a:rPr b="0" i="0" lang="en-US" sz="2550" u="none" cap="none" strike="noStrike">
                <a:solidFill>
                  <a:srgbClr val="4A5A6A"/>
                </a:solidFill>
                <a:latin typeface="Arial"/>
                <a:ea typeface="Arial"/>
                <a:cs typeface="Arial"/>
                <a:sym typeface="Arial"/>
              </a:rPr>
              <a:t>The score is built only from what had already happened by the day it runs. </a:t>
            </a:r>
            <a:r>
              <a:rPr b="1" i="0" lang="en-US" sz="2550" u="none" cap="none" strike="noStrike">
                <a:solidFill>
                  <a:srgbClr val="2F4156"/>
                </a:solidFill>
                <a:latin typeface="Arial"/>
                <a:ea typeface="Arial"/>
                <a:cs typeface="Arial"/>
                <a:sym typeface="Arial"/>
              </a:rPr>
              <a:t>Nothing from the four weeks being predicted is allowed in</a:t>
            </a:r>
            <a:r>
              <a:rPr b="0" i="0" lang="en-US" sz="2550" u="none" cap="none" strike="noStrike">
                <a:solidFill>
                  <a:srgbClr val="4A5A6A"/>
                </a:solidFill>
                <a:latin typeface="Arial"/>
                <a:ea typeface="Arial"/>
                <a:cs typeface="Arial"/>
                <a:sym typeface="Arial"/>
              </a:rPr>
              <a:t>, which makes it a forecast.</a:t>
            </a:r>
            <a:r>
              <a:rPr b="1" i="0" lang="en-US" sz="2550" u="none" cap="none" strike="noStrike">
                <a:solidFill>
                  <a:srgbClr val="659BB9"/>
                </a:solidFill>
                <a:latin typeface="Arial"/>
                <a:ea typeface="Arial"/>
                <a:cs typeface="Arial"/>
                <a:sym typeface="Arial"/>
              </a:rPr>
              <a:t> </a:t>
            </a:r>
            <a:r>
              <a:rPr b="0" i="0" lang="en-US" sz="2550" u="none" cap="none" strike="noStrike">
                <a:solidFill>
                  <a:srgbClr val="4A5A6A"/>
                </a:solidFill>
                <a:latin typeface="Arial"/>
                <a:ea typeface="Arial"/>
                <a:cs typeface="Arial"/>
                <a:sym typeface="Arial"/>
              </a:rPr>
              <a:t> </a:t>
            </a:r>
            <a:endParaRPr b="0" i="0" sz="2550" u="none" cap="none" strike="noStrike">
              <a:solidFill>
                <a:schemeClr val="dk1"/>
              </a:solidFill>
              <a:latin typeface="Calibri"/>
              <a:ea typeface="Calibri"/>
              <a:cs typeface="Calibri"/>
              <a:sym typeface="Calibri"/>
            </a:endParaRPr>
          </a:p>
        </p:txBody>
      </p:sp>
      <p:pic>
        <p:nvPicPr>
          <p:cNvPr descr="preencoded.png" id="56" name="Google Shape;56;p5"/>
          <p:cNvPicPr preferRelativeResize="0"/>
          <p:nvPr/>
        </p:nvPicPr>
        <p:blipFill rotWithShape="1">
          <a:blip r:embed="rId3">
            <a:alphaModFix/>
          </a:blip>
          <a:srcRect b="0" l="0" r="0" t="0"/>
          <a:stretch/>
        </p:blipFill>
        <p:spPr>
          <a:xfrm>
            <a:off x="16097250" y="8625682"/>
            <a:ext cx="1047750" cy="975519"/>
          </a:xfrm>
          <a:prstGeom prst="rect">
            <a:avLst/>
          </a:prstGeom>
          <a:noFill/>
          <a:ln>
            <a:noFill/>
          </a:ln>
        </p:spPr>
      </p:pic>
      <p:pic>
        <p:nvPicPr>
          <p:cNvPr id="57" name="Google Shape;57;p5"/>
          <p:cNvPicPr preferRelativeResize="0"/>
          <p:nvPr/>
        </p:nvPicPr>
        <p:blipFill rotWithShape="1">
          <a:blip r:embed="rId4">
            <a:alphaModFix/>
          </a:blip>
          <a:srcRect b="0" l="0" r="0" t="0"/>
          <a:stretch/>
        </p:blipFill>
        <p:spPr>
          <a:xfrm>
            <a:off x="2644000" y="5750000"/>
            <a:ext cx="13000000" cy="3818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EF"/>
        </a:solidFill>
      </p:bgPr>
    </p:bg>
    <p:spTree>
      <p:nvGrpSpPr>
        <p:cNvPr id="62" name="Shape 62"/>
        <p:cNvGrpSpPr/>
        <p:nvPr/>
      </p:nvGrpSpPr>
      <p:grpSpPr>
        <a:xfrm>
          <a:off x="0" y="0"/>
          <a:ext cx="0" cy="0"/>
          <a:chOff x="0" y="0"/>
          <a:chExt cx="0" cy="0"/>
        </a:xfrm>
      </p:grpSpPr>
      <p:sp>
        <p:nvSpPr>
          <p:cNvPr id="63" name="Google Shape;63;p9"/>
          <p:cNvSpPr/>
          <p:nvPr/>
        </p:nvSpPr>
        <p:spPr>
          <a:xfrm>
            <a:off x="1143000" y="838200"/>
            <a:ext cx="17602200" cy="696416"/>
          </a:xfrm>
          <a:prstGeom prst="rect">
            <a:avLst/>
          </a:prstGeom>
          <a:noFill/>
          <a:ln>
            <a:noFill/>
          </a:ln>
        </p:spPr>
        <p:txBody>
          <a:bodyPr anchorCtr="0" anchor="t" bIns="25400" lIns="25400" spcFirstLastPara="1" rIns="25400" wrap="square" tIns="25400">
            <a:normAutofit/>
          </a:bodyPr>
          <a:lstStyle/>
          <a:p>
            <a:pPr indent="0" lvl="0" marL="0" marR="0" rtl="0" algn="l">
              <a:lnSpc>
                <a:spcPct val="108000"/>
              </a:lnSpc>
              <a:spcBef>
                <a:spcPts val="0"/>
              </a:spcBef>
              <a:spcAft>
                <a:spcPts val="0"/>
              </a:spcAft>
              <a:buClr>
                <a:srgbClr val="2F4156"/>
              </a:buClr>
              <a:buSzPts val="4800"/>
              <a:buFont typeface="Arial"/>
              <a:buNone/>
            </a:pPr>
            <a:r>
              <a:rPr b="1" i="0" lang="en-US" sz="4800" u="none" cap="none" strike="noStrike">
                <a:solidFill>
                  <a:srgbClr val="2F4156"/>
                </a:solidFill>
                <a:latin typeface="Arial"/>
                <a:ea typeface="Arial"/>
                <a:cs typeface="Arial"/>
                <a:sym typeface="Arial"/>
              </a:rPr>
              <a:t>How a Customer Gets Scored</a:t>
            </a:r>
            <a:endParaRPr b="0" i="0" sz="4800" u="none" cap="none" strike="noStrike">
              <a:solidFill>
                <a:schemeClr val="dk1"/>
              </a:solidFill>
              <a:latin typeface="Calibri"/>
              <a:ea typeface="Calibri"/>
              <a:cs typeface="Calibri"/>
              <a:sym typeface="Calibri"/>
            </a:endParaRPr>
          </a:p>
        </p:txBody>
      </p:sp>
      <p:sp>
        <p:nvSpPr>
          <p:cNvPr id="64" name="Google Shape;64;p9"/>
          <p:cNvSpPr/>
          <p:nvPr/>
        </p:nvSpPr>
        <p:spPr>
          <a:xfrm>
            <a:off x="1143000" y="1915617"/>
            <a:ext cx="609600" cy="38100"/>
          </a:xfrm>
          <a:prstGeom prst="roundRect">
            <a:avLst>
              <a:gd fmla="val 50000" name="adj"/>
            </a:avLst>
          </a:prstGeom>
          <a:solidFill>
            <a:srgbClr val="659B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9"/>
          <p:cNvSpPr/>
          <p:nvPr/>
        </p:nvSpPr>
        <p:spPr>
          <a:xfrm>
            <a:off x="1143000" y="2182317"/>
            <a:ext cx="10791825" cy="123825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7A8E9E"/>
              </a:buClr>
              <a:buSzPts val="2100"/>
              <a:buFont typeface="Arial"/>
              <a:buNone/>
            </a:pPr>
            <a:r>
              <a:rPr b="0" i="0" lang="en-US" sz="2100" u="none" cap="none" strike="noStrike">
                <a:solidFill>
                  <a:srgbClr val="7A8E9E"/>
                </a:solidFill>
                <a:latin typeface="Arial"/>
                <a:ea typeface="Arial"/>
                <a:cs typeface="Arial"/>
                <a:sym typeface="Arial"/>
              </a:rPr>
              <a:t>Every household passes through the same five stages each week, turning raw till data into a name a retention manager can act on. The score itself is never the deliverable; the ranked list at the end of the chain is.</a:t>
            </a:r>
            <a:endParaRPr b="0" i="0" sz="2100" u="none" cap="none" strike="noStrike">
              <a:solidFill>
                <a:schemeClr val="dk1"/>
              </a:solidFill>
              <a:latin typeface="Calibri"/>
              <a:ea typeface="Calibri"/>
              <a:cs typeface="Calibri"/>
              <a:sym typeface="Calibri"/>
            </a:endParaRPr>
          </a:p>
        </p:txBody>
      </p:sp>
      <p:sp>
        <p:nvSpPr>
          <p:cNvPr id="66" name="Google Shape;66;p9"/>
          <p:cNvSpPr/>
          <p:nvPr/>
        </p:nvSpPr>
        <p:spPr>
          <a:xfrm>
            <a:off x="1688505" y="4682837"/>
            <a:ext cx="1333500" cy="1333500"/>
          </a:xfrm>
          <a:prstGeom prst="ellipse">
            <a:avLst/>
          </a:prstGeom>
          <a:solidFill>
            <a:srgbClr val="659BB9">
              <a:alpha val="1215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7" name="Google Shape;67;p9"/>
          <p:cNvPicPr preferRelativeResize="0"/>
          <p:nvPr/>
        </p:nvPicPr>
        <p:blipFill rotWithShape="1">
          <a:blip r:embed="rId3">
            <a:alphaModFix/>
          </a:blip>
          <a:srcRect b="0" l="0" r="0" t="0"/>
          <a:stretch/>
        </p:blipFill>
        <p:spPr>
          <a:xfrm>
            <a:off x="1974255" y="4968587"/>
            <a:ext cx="762000" cy="762000"/>
          </a:xfrm>
          <a:prstGeom prst="rect">
            <a:avLst/>
          </a:prstGeom>
          <a:noFill/>
          <a:ln>
            <a:noFill/>
          </a:ln>
        </p:spPr>
      </p:pic>
      <p:sp>
        <p:nvSpPr>
          <p:cNvPr id="68" name="Google Shape;68;p9"/>
          <p:cNvSpPr/>
          <p:nvPr/>
        </p:nvSpPr>
        <p:spPr>
          <a:xfrm>
            <a:off x="1417633" y="6206837"/>
            <a:ext cx="1875000" cy="358200"/>
          </a:xfrm>
          <a:prstGeom prst="rect">
            <a:avLst/>
          </a:prstGeom>
          <a:noFill/>
          <a:ln>
            <a:noFill/>
          </a:ln>
        </p:spPr>
        <p:txBody>
          <a:bodyPr anchorCtr="0" anchor="t" bIns="25400" lIns="25400" spcFirstLastPara="1" rIns="25400" wrap="square" tIns="25400">
            <a:normAutofit/>
          </a:bodyPr>
          <a:lstStyle/>
          <a:p>
            <a:pPr indent="0" lvl="0" marL="0" marR="0" rtl="0" algn="ctr">
              <a:lnSpc>
                <a:spcPct val="120000"/>
              </a:lnSpc>
              <a:spcBef>
                <a:spcPts val="0"/>
              </a:spcBef>
              <a:spcAft>
                <a:spcPts val="0"/>
              </a:spcAft>
              <a:buClr>
                <a:srgbClr val="2F4156"/>
              </a:buClr>
              <a:buSzPts val="2100"/>
              <a:buFont typeface="Arial"/>
              <a:buNone/>
            </a:pPr>
            <a:r>
              <a:rPr b="1" i="0" lang="en-US" sz="2100" u="none" cap="none" strike="noStrike">
                <a:solidFill>
                  <a:srgbClr val="2F4156"/>
                </a:solidFill>
                <a:latin typeface="Arial"/>
                <a:ea typeface="Arial"/>
                <a:cs typeface="Arial"/>
                <a:sym typeface="Arial"/>
              </a:rPr>
              <a:t>Till Receipts</a:t>
            </a:r>
            <a:endParaRPr b="0" i="0" sz="2100" u="none" cap="none" strike="noStrike">
              <a:solidFill>
                <a:schemeClr val="dk1"/>
              </a:solidFill>
              <a:latin typeface="Calibri"/>
              <a:ea typeface="Calibri"/>
              <a:cs typeface="Calibri"/>
              <a:sym typeface="Calibri"/>
            </a:endParaRPr>
          </a:p>
        </p:txBody>
      </p:sp>
      <p:sp>
        <p:nvSpPr>
          <p:cNvPr id="69" name="Google Shape;69;p9"/>
          <p:cNvSpPr/>
          <p:nvPr/>
        </p:nvSpPr>
        <p:spPr>
          <a:xfrm>
            <a:off x="1417633" y="6583967"/>
            <a:ext cx="1875000" cy="358200"/>
          </a:xfrm>
          <a:prstGeom prst="rect">
            <a:avLst/>
          </a:prstGeom>
          <a:noFill/>
          <a:ln>
            <a:noFill/>
          </a:ln>
        </p:spPr>
        <p:txBody>
          <a:bodyPr anchorCtr="0" anchor="t" bIns="25400" lIns="25400" spcFirstLastPara="1" rIns="25400" wrap="square" tIns="25400">
            <a:normAutofit/>
          </a:bodyPr>
          <a:lstStyle/>
          <a:p>
            <a:pPr indent="0" lvl="0" marL="0" marR="0" rtl="0" algn="ctr">
              <a:lnSpc>
                <a:spcPct val="140000"/>
              </a:lnSpc>
              <a:spcBef>
                <a:spcPts val="0"/>
              </a:spcBef>
              <a:spcAft>
                <a:spcPts val="0"/>
              </a:spcAft>
              <a:buClr>
                <a:srgbClr val="4D7FA0"/>
              </a:buClr>
              <a:buSzPts val="1800"/>
              <a:buFont typeface="Arial"/>
              <a:buNone/>
            </a:pPr>
            <a:r>
              <a:rPr b="0" i="0" lang="en-US" sz="1800" u="none" cap="none" strike="noStrike">
                <a:solidFill>
                  <a:srgbClr val="4D7FA0"/>
                </a:solidFill>
                <a:latin typeface="Arial"/>
                <a:ea typeface="Arial"/>
                <a:cs typeface="Arial"/>
                <a:sym typeface="Arial"/>
              </a:rPr>
              <a:t>two years of sales</a:t>
            </a:r>
            <a:endParaRPr b="0" i="0" sz="1800" u="none" cap="none" strike="noStrike">
              <a:solidFill>
                <a:schemeClr val="dk1"/>
              </a:solidFill>
              <a:latin typeface="Calibri"/>
              <a:ea typeface="Calibri"/>
              <a:cs typeface="Calibri"/>
              <a:sym typeface="Calibri"/>
            </a:endParaRPr>
          </a:p>
        </p:txBody>
      </p:sp>
      <p:pic>
        <p:nvPicPr>
          <p:cNvPr descr="preencoded.png" id="70" name="Google Shape;70;p9"/>
          <p:cNvPicPr preferRelativeResize="0"/>
          <p:nvPr/>
        </p:nvPicPr>
        <p:blipFill rotWithShape="1">
          <a:blip r:embed="rId4">
            <a:alphaModFix/>
          </a:blip>
          <a:srcRect b="0" l="0" r="0" t="0"/>
          <a:stretch/>
        </p:blipFill>
        <p:spPr>
          <a:xfrm>
            <a:off x="3567510" y="5349587"/>
            <a:ext cx="969863" cy="228600"/>
          </a:xfrm>
          <a:prstGeom prst="rect">
            <a:avLst/>
          </a:prstGeom>
          <a:noFill/>
          <a:ln>
            <a:noFill/>
          </a:ln>
        </p:spPr>
      </p:pic>
      <p:sp>
        <p:nvSpPr>
          <p:cNvPr id="71" name="Google Shape;71;p9"/>
          <p:cNvSpPr/>
          <p:nvPr/>
        </p:nvSpPr>
        <p:spPr>
          <a:xfrm>
            <a:off x="5082878" y="4682837"/>
            <a:ext cx="1333500" cy="1333500"/>
          </a:xfrm>
          <a:prstGeom prst="ellipse">
            <a:avLst/>
          </a:prstGeom>
          <a:solidFill>
            <a:srgbClr val="659BB9">
              <a:alpha val="1215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2" name="Google Shape;72;p9"/>
          <p:cNvPicPr preferRelativeResize="0"/>
          <p:nvPr/>
        </p:nvPicPr>
        <p:blipFill rotWithShape="1">
          <a:blip r:embed="rId5">
            <a:alphaModFix/>
          </a:blip>
          <a:srcRect b="0" l="0" r="0" t="0"/>
          <a:stretch/>
        </p:blipFill>
        <p:spPr>
          <a:xfrm>
            <a:off x="5368628" y="4968587"/>
            <a:ext cx="762000" cy="762000"/>
          </a:xfrm>
          <a:prstGeom prst="rect">
            <a:avLst/>
          </a:prstGeom>
          <a:noFill/>
          <a:ln>
            <a:noFill/>
          </a:ln>
        </p:spPr>
      </p:pic>
      <p:sp>
        <p:nvSpPr>
          <p:cNvPr id="73" name="Google Shape;73;p9"/>
          <p:cNvSpPr/>
          <p:nvPr/>
        </p:nvSpPr>
        <p:spPr>
          <a:xfrm>
            <a:off x="4862319" y="6206837"/>
            <a:ext cx="1774500" cy="358200"/>
          </a:xfrm>
          <a:prstGeom prst="rect">
            <a:avLst/>
          </a:prstGeom>
          <a:noFill/>
          <a:ln>
            <a:noFill/>
          </a:ln>
        </p:spPr>
        <p:txBody>
          <a:bodyPr anchorCtr="0" anchor="t" bIns="25400" lIns="25400" spcFirstLastPara="1" rIns="25400" wrap="square" tIns="25400">
            <a:normAutofit/>
          </a:bodyPr>
          <a:lstStyle/>
          <a:p>
            <a:pPr indent="0" lvl="0" marL="0" marR="0" rtl="0" algn="ctr">
              <a:lnSpc>
                <a:spcPct val="120000"/>
              </a:lnSpc>
              <a:spcBef>
                <a:spcPts val="0"/>
              </a:spcBef>
              <a:spcAft>
                <a:spcPts val="0"/>
              </a:spcAft>
              <a:buClr>
                <a:srgbClr val="2F4156"/>
              </a:buClr>
              <a:buSzPts val="2100"/>
              <a:buFont typeface="Arial"/>
              <a:buNone/>
            </a:pPr>
            <a:r>
              <a:rPr b="1" i="0" lang="en-US" sz="2100" u="none" cap="none" strike="noStrike">
                <a:solidFill>
                  <a:srgbClr val="2F4156"/>
                </a:solidFill>
                <a:latin typeface="Arial"/>
                <a:ea typeface="Arial"/>
                <a:cs typeface="Arial"/>
                <a:sym typeface="Arial"/>
              </a:rPr>
              <a:t>Profile</a:t>
            </a:r>
            <a:endParaRPr b="0" i="0" sz="2100" u="none" cap="none" strike="noStrike">
              <a:solidFill>
                <a:schemeClr val="dk1"/>
              </a:solidFill>
              <a:latin typeface="Calibri"/>
              <a:ea typeface="Calibri"/>
              <a:cs typeface="Calibri"/>
              <a:sym typeface="Calibri"/>
            </a:endParaRPr>
          </a:p>
        </p:txBody>
      </p:sp>
      <p:sp>
        <p:nvSpPr>
          <p:cNvPr id="74" name="Google Shape;74;p9"/>
          <p:cNvSpPr/>
          <p:nvPr/>
        </p:nvSpPr>
        <p:spPr>
          <a:xfrm>
            <a:off x="4862319" y="6583967"/>
            <a:ext cx="1774500" cy="358200"/>
          </a:xfrm>
          <a:prstGeom prst="rect">
            <a:avLst/>
          </a:prstGeom>
          <a:noFill/>
          <a:ln>
            <a:noFill/>
          </a:ln>
        </p:spPr>
        <p:txBody>
          <a:bodyPr anchorCtr="0" anchor="t" bIns="25400" lIns="25400" spcFirstLastPara="1" rIns="25400" wrap="square" tIns="25400">
            <a:normAutofit/>
          </a:bodyPr>
          <a:lstStyle/>
          <a:p>
            <a:pPr indent="0" lvl="0" marL="0" marR="0" rtl="0" algn="ctr">
              <a:lnSpc>
                <a:spcPct val="140000"/>
              </a:lnSpc>
              <a:spcBef>
                <a:spcPts val="0"/>
              </a:spcBef>
              <a:spcAft>
                <a:spcPts val="0"/>
              </a:spcAft>
              <a:buClr>
                <a:srgbClr val="4D7FA0"/>
              </a:buClr>
              <a:buSzPts val="1800"/>
              <a:buFont typeface="Arial"/>
              <a:buNone/>
            </a:pPr>
            <a:r>
              <a:rPr b="0" i="0" lang="en-US" sz="1800" u="none" cap="none" strike="noStrike">
                <a:solidFill>
                  <a:srgbClr val="4D7FA0"/>
                </a:solidFill>
                <a:latin typeface="Arial"/>
                <a:ea typeface="Arial"/>
                <a:cs typeface="Arial"/>
                <a:sym typeface="Arial"/>
              </a:rPr>
              <a:t>frequency · spend · variety</a:t>
            </a:r>
            <a:endParaRPr b="0" i="0" sz="1800" u="none" cap="none" strike="noStrike">
              <a:solidFill>
                <a:schemeClr val="dk1"/>
              </a:solidFill>
              <a:latin typeface="Calibri"/>
              <a:ea typeface="Calibri"/>
              <a:cs typeface="Calibri"/>
              <a:sym typeface="Calibri"/>
            </a:endParaRPr>
          </a:p>
        </p:txBody>
      </p:sp>
      <p:pic>
        <p:nvPicPr>
          <p:cNvPr descr="preencoded.png" id="75" name="Google Shape;75;p9"/>
          <p:cNvPicPr preferRelativeResize="0"/>
          <p:nvPr/>
        </p:nvPicPr>
        <p:blipFill rotWithShape="1">
          <a:blip r:embed="rId4">
            <a:alphaModFix/>
          </a:blip>
          <a:srcRect b="0" l="0" r="0" t="0"/>
          <a:stretch/>
        </p:blipFill>
        <p:spPr>
          <a:xfrm>
            <a:off x="6961882" y="5349587"/>
            <a:ext cx="969863" cy="228600"/>
          </a:xfrm>
          <a:prstGeom prst="rect">
            <a:avLst/>
          </a:prstGeom>
          <a:noFill/>
          <a:ln>
            <a:noFill/>
          </a:ln>
        </p:spPr>
      </p:pic>
      <p:sp>
        <p:nvSpPr>
          <p:cNvPr id="76" name="Google Shape;76;p9"/>
          <p:cNvSpPr/>
          <p:nvPr/>
        </p:nvSpPr>
        <p:spPr>
          <a:xfrm>
            <a:off x="8477250" y="4682837"/>
            <a:ext cx="1333500" cy="1333500"/>
          </a:xfrm>
          <a:prstGeom prst="ellipse">
            <a:avLst/>
          </a:prstGeom>
          <a:solidFill>
            <a:srgbClr val="659B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7" name="Google Shape;77;p9"/>
          <p:cNvPicPr preferRelativeResize="0"/>
          <p:nvPr/>
        </p:nvPicPr>
        <p:blipFill rotWithShape="1">
          <a:blip r:embed="rId6">
            <a:alphaModFix/>
          </a:blip>
          <a:srcRect b="0" l="0" r="0" t="0"/>
          <a:stretch/>
        </p:blipFill>
        <p:spPr>
          <a:xfrm>
            <a:off x="8763000" y="4968587"/>
            <a:ext cx="762000" cy="762000"/>
          </a:xfrm>
          <a:prstGeom prst="rect">
            <a:avLst/>
          </a:prstGeom>
          <a:noFill/>
          <a:ln>
            <a:noFill/>
          </a:ln>
        </p:spPr>
      </p:pic>
      <p:sp>
        <p:nvSpPr>
          <p:cNvPr id="78" name="Google Shape;78;p9"/>
          <p:cNvSpPr/>
          <p:nvPr/>
        </p:nvSpPr>
        <p:spPr>
          <a:xfrm>
            <a:off x="7953608" y="6206837"/>
            <a:ext cx="2380800" cy="358200"/>
          </a:xfrm>
          <a:prstGeom prst="rect">
            <a:avLst/>
          </a:prstGeom>
          <a:noFill/>
          <a:ln>
            <a:noFill/>
          </a:ln>
        </p:spPr>
        <p:txBody>
          <a:bodyPr anchorCtr="0" anchor="t" bIns="25400" lIns="25400" spcFirstLastPara="1" rIns="25400" wrap="square" tIns="25400">
            <a:normAutofit/>
          </a:bodyPr>
          <a:lstStyle/>
          <a:p>
            <a:pPr indent="0" lvl="0" marL="0" marR="0" rtl="0" algn="ctr">
              <a:lnSpc>
                <a:spcPct val="120000"/>
              </a:lnSpc>
              <a:spcBef>
                <a:spcPts val="0"/>
              </a:spcBef>
              <a:spcAft>
                <a:spcPts val="0"/>
              </a:spcAft>
              <a:buClr>
                <a:srgbClr val="2F4156"/>
              </a:buClr>
              <a:buSzPts val="2100"/>
              <a:buFont typeface="Arial"/>
              <a:buNone/>
            </a:pPr>
            <a:r>
              <a:rPr b="1" i="0" lang="en-US" sz="2100" u="none" cap="none" strike="noStrike">
                <a:solidFill>
                  <a:srgbClr val="2F4156"/>
                </a:solidFill>
                <a:latin typeface="Arial"/>
                <a:ea typeface="Arial"/>
                <a:cs typeface="Arial"/>
                <a:sym typeface="Arial"/>
              </a:rPr>
              <a:t>Risk Score</a:t>
            </a:r>
            <a:endParaRPr b="0" i="0" sz="2100" u="none" cap="none" strike="noStrike">
              <a:solidFill>
                <a:schemeClr val="dk1"/>
              </a:solidFill>
              <a:latin typeface="Calibri"/>
              <a:ea typeface="Calibri"/>
              <a:cs typeface="Calibri"/>
              <a:sym typeface="Calibri"/>
            </a:endParaRPr>
          </a:p>
        </p:txBody>
      </p:sp>
      <p:sp>
        <p:nvSpPr>
          <p:cNvPr id="79" name="Google Shape;79;p9"/>
          <p:cNvSpPr/>
          <p:nvPr/>
        </p:nvSpPr>
        <p:spPr>
          <a:xfrm>
            <a:off x="7953608" y="6583967"/>
            <a:ext cx="2380800" cy="358200"/>
          </a:xfrm>
          <a:prstGeom prst="rect">
            <a:avLst/>
          </a:prstGeom>
          <a:noFill/>
          <a:ln>
            <a:noFill/>
          </a:ln>
        </p:spPr>
        <p:txBody>
          <a:bodyPr anchorCtr="0" anchor="t" bIns="25400" lIns="25400" spcFirstLastPara="1" rIns="25400" wrap="square" tIns="25400">
            <a:normAutofit/>
          </a:bodyPr>
          <a:lstStyle/>
          <a:p>
            <a:pPr indent="0" lvl="0" marL="0" marR="0" rtl="0" algn="ctr">
              <a:lnSpc>
                <a:spcPct val="140000"/>
              </a:lnSpc>
              <a:spcBef>
                <a:spcPts val="0"/>
              </a:spcBef>
              <a:spcAft>
                <a:spcPts val="0"/>
              </a:spcAft>
              <a:buClr>
                <a:srgbClr val="4D7FA0"/>
              </a:buClr>
              <a:buSzPts val="1800"/>
              <a:buFont typeface="Arial"/>
              <a:buNone/>
            </a:pPr>
            <a:r>
              <a:rPr b="0" i="0" lang="en-US" sz="1800" u="none" cap="none" strike="noStrike">
                <a:solidFill>
                  <a:srgbClr val="4D7FA0"/>
                </a:solidFill>
                <a:latin typeface="Arial"/>
                <a:ea typeface="Arial"/>
                <a:cs typeface="Arial"/>
                <a:sym typeface="Arial"/>
              </a:rPr>
              <a:t>chance of leaving</a:t>
            </a:r>
            <a:endParaRPr b="0" i="0" sz="1800" u="none" cap="none" strike="noStrike">
              <a:solidFill>
                <a:schemeClr val="dk1"/>
              </a:solidFill>
              <a:latin typeface="Calibri"/>
              <a:ea typeface="Calibri"/>
              <a:cs typeface="Calibri"/>
              <a:sym typeface="Calibri"/>
            </a:endParaRPr>
          </a:p>
        </p:txBody>
      </p:sp>
      <p:pic>
        <p:nvPicPr>
          <p:cNvPr descr="preencoded.png" id="80" name="Google Shape;80;p9"/>
          <p:cNvPicPr preferRelativeResize="0"/>
          <p:nvPr/>
        </p:nvPicPr>
        <p:blipFill rotWithShape="1">
          <a:blip r:embed="rId4">
            <a:alphaModFix/>
          </a:blip>
          <a:srcRect b="0" l="0" r="0" t="0"/>
          <a:stretch/>
        </p:blipFill>
        <p:spPr>
          <a:xfrm>
            <a:off x="10356255" y="5349587"/>
            <a:ext cx="969863" cy="228600"/>
          </a:xfrm>
          <a:prstGeom prst="rect">
            <a:avLst/>
          </a:prstGeom>
          <a:noFill/>
          <a:ln>
            <a:noFill/>
          </a:ln>
        </p:spPr>
      </p:pic>
      <p:sp>
        <p:nvSpPr>
          <p:cNvPr id="81" name="Google Shape;81;p9"/>
          <p:cNvSpPr/>
          <p:nvPr/>
        </p:nvSpPr>
        <p:spPr>
          <a:xfrm>
            <a:off x="11871623" y="4682837"/>
            <a:ext cx="1333500" cy="1333500"/>
          </a:xfrm>
          <a:prstGeom prst="ellipse">
            <a:avLst/>
          </a:prstGeom>
          <a:solidFill>
            <a:srgbClr val="659BB9">
              <a:alpha val="1215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2" name="Google Shape;82;p9"/>
          <p:cNvPicPr preferRelativeResize="0"/>
          <p:nvPr/>
        </p:nvPicPr>
        <p:blipFill rotWithShape="1">
          <a:blip r:embed="rId7">
            <a:alphaModFix/>
          </a:blip>
          <a:srcRect b="0" l="0" r="0" t="0"/>
          <a:stretch/>
        </p:blipFill>
        <p:spPr>
          <a:xfrm>
            <a:off x="12157373" y="4968587"/>
            <a:ext cx="762000" cy="762000"/>
          </a:xfrm>
          <a:prstGeom prst="rect">
            <a:avLst/>
          </a:prstGeom>
          <a:noFill/>
          <a:ln>
            <a:noFill/>
          </a:ln>
        </p:spPr>
      </p:pic>
      <p:sp>
        <p:nvSpPr>
          <p:cNvPr id="83" name="Google Shape;83;p9"/>
          <p:cNvSpPr/>
          <p:nvPr/>
        </p:nvSpPr>
        <p:spPr>
          <a:xfrm>
            <a:off x="11462142" y="6206837"/>
            <a:ext cx="2152500" cy="358200"/>
          </a:xfrm>
          <a:prstGeom prst="rect">
            <a:avLst/>
          </a:prstGeom>
          <a:noFill/>
          <a:ln>
            <a:noFill/>
          </a:ln>
        </p:spPr>
        <p:txBody>
          <a:bodyPr anchorCtr="0" anchor="t" bIns="25400" lIns="25400" spcFirstLastPara="1" rIns="25400" wrap="square" tIns="25400">
            <a:normAutofit/>
          </a:bodyPr>
          <a:lstStyle/>
          <a:p>
            <a:pPr indent="0" lvl="0" marL="0" marR="0" rtl="0" algn="ctr">
              <a:lnSpc>
                <a:spcPct val="120000"/>
              </a:lnSpc>
              <a:spcBef>
                <a:spcPts val="0"/>
              </a:spcBef>
              <a:spcAft>
                <a:spcPts val="0"/>
              </a:spcAft>
              <a:buClr>
                <a:srgbClr val="2F4156"/>
              </a:buClr>
              <a:buSzPts val="2100"/>
              <a:buFont typeface="Arial"/>
              <a:buNone/>
            </a:pPr>
            <a:r>
              <a:rPr b="1" i="0" lang="en-US" sz="2100" u="none" cap="none" strike="noStrike">
                <a:solidFill>
                  <a:srgbClr val="2F4156"/>
                </a:solidFill>
                <a:latin typeface="Arial"/>
                <a:ea typeface="Arial"/>
                <a:cs typeface="Arial"/>
                <a:sym typeface="Arial"/>
              </a:rPr>
              <a:t>Ranked List</a:t>
            </a:r>
            <a:endParaRPr b="0" i="0" sz="2100" u="none" cap="none" strike="noStrike">
              <a:solidFill>
                <a:schemeClr val="dk1"/>
              </a:solidFill>
              <a:latin typeface="Calibri"/>
              <a:ea typeface="Calibri"/>
              <a:cs typeface="Calibri"/>
              <a:sym typeface="Calibri"/>
            </a:endParaRPr>
          </a:p>
        </p:txBody>
      </p:sp>
      <p:sp>
        <p:nvSpPr>
          <p:cNvPr id="84" name="Google Shape;84;p9"/>
          <p:cNvSpPr/>
          <p:nvPr/>
        </p:nvSpPr>
        <p:spPr>
          <a:xfrm>
            <a:off x="11462142" y="6583967"/>
            <a:ext cx="2152500" cy="358200"/>
          </a:xfrm>
          <a:prstGeom prst="rect">
            <a:avLst/>
          </a:prstGeom>
          <a:noFill/>
          <a:ln>
            <a:noFill/>
          </a:ln>
        </p:spPr>
        <p:txBody>
          <a:bodyPr anchorCtr="0" anchor="t" bIns="25400" lIns="25400" spcFirstLastPara="1" rIns="25400" wrap="square" tIns="25400">
            <a:normAutofit/>
          </a:bodyPr>
          <a:lstStyle/>
          <a:p>
            <a:pPr indent="0" lvl="0" marL="0" marR="0" rtl="0" algn="ctr">
              <a:lnSpc>
                <a:spcPct val="140000"/>
              </a:lnSpc>
              <a:spcBef>
                <a:spcPts val="0"/>
              </a:spcBef>
              <a:spcAft>
                <a:spcPts val="0"/>
              </a:spcAft>
              <a:buClr>
                <a:srgbClr val="4D7FA0"/>
              </a:buClr>
              <a:buSzPts val="1800"/>
              <a:buFont typeface="Arial"/>
              <a:buNone/>
            </a:pPr>
            <a:r>
              <a:rPr b="0" i="0" lang="en-US" sz="1800" u="none" cap="none" strike="noStrike">
                <a:solidFill>
                  <a:srgbClr val="4D7FA0"/>
                </a:solidFill>
                <a:latin typeface="Arial"/>
                <a:ea typeface="Arial"/>
                <a:cs typeface="Arial"/>
                <a:sym typeface="Arial"/>
              </a:rPr>
              <a:t>highest risk first</a:t>
            </a:r>
            <a:endParaRPr b="0" i="0" sz="1800" u="none" cap="none" strike="noStrike">
              <a:solidFill>
                <a:schemeClr val="dk1"/>
              </a:solidFill>
              <a:latin typeface="Calibri"/>
              <a:ea typeface="Calibri"/>
              <a:cs typeface="Calibri"/>
              <a:sym typeface="Calibri"/>
            </a:endParaRPr>
          </a:p>
        </p:txBody>
      </p:sp>
      <p:pic>
        <p:nvPicPr>
          <p:cNvPr descr="preencoded.png" id="85" name="Google Shape;85;p9"/>
          <p:cNvPicPr preferRelativeResize="0"/>
          <p:nvPr/>
        </p:nvPicPr>
        <p:blipFill rotWithShape="1">
          <a:blip r:embed="rId4">
            <a:alphaModFix/>
          </a:blip>
          <a:srcRect b="0" l="0" r="0" t="0"/>
          <a:stretch/>
        </p:blipFill>
        <p:spPr>
          <a:xfrm>
            <a:off x="13750628" y="5349587"/>
            <a:ext cx="969863" cy="228600"/>
          </a:xfrm>
          <a:prstGeom prst="rect">
            <a:avLst/>
          </a:prstGeom>
          <a:noFill/>
          <a:ln>
            <a:noFill/>
          </a:ln>
        </p:spPr>
      </p:pic>
      <p:sp>
        <p:nvSpPr>
          <p:cNvPr id="86" name="Google Shape;86;p9"/>
          <p:cNvSpPr/>
          <p:nvPr/>
        </p:nvSpPr>
        <p:spPr>
          <a:xfrm>
            <a:off x="15265996" y="4682837"/>
            <a:ext cx="1333500" cy="1333500"/>
          </a:xfrm>
          <a:prstGeom prst="ellipse">
            <a:avLst/>
          </a:prstGeom>
          <a:solidFill>
            <a:srgbClr val="659BB9">
              <a:alpha val="1215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7" name="Google Shape;87;p9"/>
          <p:cNvPicPr preferRelativeResize="0"/>
          <p:nvPr/>
        </p:nvPicPr>
        <p:blipFill rotWithShape="1">
          <a:blip r:embed="rId8">
            <a:alphaModFix/>
          </a:blip>
          <a:srcRect b="0" l="0" r="0" t="0"/>
          <a:stretch/>
        </p:blipFill>
        <p:spPr>
          <a:xfrm>
            <a:off x="15551746" y="4968587"/>
            <a:ext cx="762000" cy="762000"/>
          </a:xfrm>
          <a:prstGeom prst="rect">
            <a:avLst/>
          </a:prstGeom>
          <a:noFill/>
          <a:ln>
            <a:noFill/>
          </a:ln>
        </p:spPr>
      </p:pic>
      <p:sp>
        <p:nvSpPr>
          <p:cNvPr id="88" name="Google Shape;88;p9"/>
          <p:cNvSpPr/>
          <p:nvPr/>
        </p:nvSpPr>
        <p:spPr>
          <a:xfrm>
            <a:off x="15024259" y="6206837"/>
            <a:ext cx="1817100" cy="358200"/>
          </a:xfrm>
          <a:prstGeom prst="rect">
            <a:avLst/>
          </a:prstGeom>
          <a:noFill/>
          <a:ln>
            <a:noFill/>
          </a:ln>
        </p:spPr>
        <p:txBody>
          <a:bodyPr anchorCtr="0" anchor="t" bIns="25400" lIns="25400" spcFirstLastPara="1" rIns="25400" wrap="square" tIns="25400">
            <a:normAutofit/>
          </a:bodyPr>
          <a:lstStyle/>
          <a:p>
            <a:pPr indent="0" lvl="0" marL="0" marR="0" rtl="0" algn="ctr">
              <a:lnSpc>
                <a:spcPct val="120000"/>
              </a:lnSpc>
              <a:spcBef>
                <a:spcPts val="0"/>
              </a:spcBef>
              <a:spcAft>
                <a:spcPts val="0"/>
              </a:spcAft>
              <a:buClr>
                <a:srgbClr val="2F4156"/>
              </a:buClr>
              <a:buSzPts val="2100"/>
              <a:buFont typeface="Arial"/>
              <a:buNone/>
            </a:pPr>
            <a:r>
              <a:rPr b="1" i="0" lang="en-US" sz="2100" u="none" cap="none" strike="noStrike">
                <a:solidFill>
                  <a:srgbClr val="2F4156"/>
                </a:solidFill>
                <a:latin typeface="Arial"/>
                <a:ea typeface="Arial"/>
                <a:cs typeface="Arial"/>
                <a:sym typeface="Arial"/>
              </a:rPr>
              <a:t>Action</a:t>
            </a:r>
            <a:endParaRPr b="0" i="0" sz="2100" u="none" cap="none" strike="noStrike">
              <a:solidFill>
                <a:schemeClr val="dk1"/>
              </a:solidFill>
              <a:latin typeface="Calibri"/>
              <a:ea typeface="Calibri"/>
              <a:cs typeface="Calibri"/>
              <a:sym typeface="Calibri"/>
            </a:endParaRPr>
          </a:p>
        </p:txBody>
      </p:sp>
      <p:sp>
        <p:nvSpPr>
          <p:cNvPr id="89" name="Google Shape;89;p9"/>
          <p:cNvSpPr/>
          <p:nvPr/>
        </p:nvSpPr>
        <p:spPr>
          <a:xfrm>
            <a:off x="15024259" y="6583967"/>
            <a:ext cx="1817100" cy="358200"/>
          </a:xfrm>
          <a:prstGeom prst="rect">
            <a:avLst/>
          </a:prstGeom>
          <a:noFill/>
          <a:ln>
            <a:noFill/>
          </a:ln>
        </p:spPr>
        <p:txBody>
          <a:bodyPr anchorCtr="0" anchor="t" bIns="25400" lIns="25400" spcFirstLastPara="1" rIns="25400" wrap="square" tIns="25400">
            <a:normAutofit/>
          </a:bodyPr>
          <a:lstStyle/>
          <a:p>
            <a:pPr indent="0" lvl="0" marL="0" marR="0" rtl="0" algn="ctr">
              <a:lnSpc>
                <a:spcPct val="140000"/>
              </a:lnSpc>
              <a:spcBef>
                <a:spcPts val="0"/>
              </a:spcBef>
              <a:spcAft>
                <a:spcPts val="0"/>
              </a:spcAft>
              <a:buClr>
                <a:srgbClr val="4D7FA0"/>
              </a:buClr>
              <a:buSzPts val="1800"/>
              <a:buFont typeface="Arial"/>
              <a:buNone/>
            </a:pPr>
            <a:r>
              <a:rPr b="0" i="0" lang="en-US" sz="1800" u="none" cap="none" strike="noStrike">
                <a:solidFill>
                  <a:srgbClr val="4D7FA0"/>
                </a:solidFill>
                <a:latin typeface="Arial"/>
                <a:ea typeface="Arial"/>
                <a:cs typeface="Arial"/>
                <a:sym typeface="Arial"/>
              </a:rPr>
              <a:t>call · offer · voucher</a:t>
            </a:r>
            <a:endParaRPr b="0" i="0" sz="1800" u="none" cap="none" strike="noStrike">
              <a:solidFill>
                <a:schemeClr val="dk1"/>
              </a:solidFill>
              <a:latin typeface="Calibri"/>
              <a:ea typeface="Calibri"/>
              <a:cs typeface="Calibri"/>
              <a:sym typeface="Calibri"/>
            </a:endParaRPr>
          </a:p>
        </p:txBody>
      </p:sp>
      <p:pic>
        <p:nvPicPr>
          <p:cNvPr descr="preencoded.png" id="90" name="Google Shape;90;p9"/>
          <p:cNvPicPr preferRelativeResize="0"/>
          <p:nvPr/>
        </p:nvPicPr>
        <p:blipFill rotWithShape="1">
          <a:blip r:embed="rId9">
            <a:alphaModFix/>
          </a:blip>
          <a:srcRect b="0" l="0" r="0" t="0"/>
          <a:stretch/>
        </p:blipFill>
        <p:spPr>
          <a:xfrm>
            <a:off x="16097250" y="8625682"/>
            <a:ext cx="1047750" cy="97551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EF"/>
        </a:solidFill>
      </p:bgPr>
    </p:bg>
    <p:spTree>
      <p:nvGrpSpPr>
        <p:cNvPr id="95" name="Shape 95"/>
        <p:cNvGrpSpPr/>
        <p:nvPr/>
      </p:nvGrpSpPr>
      <p:grpSpPr>
        <a:xfrm>
          <a:off x="0" y="0"/>
          <a:ext cx="0" cy="0"/>
          <a:chOff x="0" y="0"/>
          <a:chExt cx="0" cy="0"/>
        </a:xfrm>
      </p:grpSpPr>
      <p:sp>
        <p:nvSpPr>
          <p:cNvPr id="96" name="Google Shape;96;p16"/>
          <p:cNvSpPr/>
          <p:nvPr/>
        </p:nvSpPr>
        <p:spPr>
          <a:xfrm>
            <a:off x="1143000" y="838200"/>
            <a:ext cx="17602200" cy="696416"/>
          </a:xfrm>
          <a:prstGeom prst="rect">
            <a:avLst/>
          </a:prstGeom>
          <a:noFill/>
          <a:ln>
            <a:noFill/>
          </a:ln>
        </p:spPr>
        <p:txBody>
          <a:bodyPr anchorCtr="0" anchor="t" bIns="25400" lIns="25400" spcFirstLastPara="1" rIns="25400" wrap="square" tIns="25400">
            <a:normAutofit/>
          </a:bodyPr>
          <a:lstStyle/>
          <a:p>
            <a:pPr indent="0" lvl="0" marL="0" marR="0" rtl="0" algn="l">
              <a:lnSpc>
                <a:spcPct val="108000"/>
              </a:lnSpc>
              <a:spcBef>
                <a:spcPts val="0"/>
              </a:spcBef>
              <a:spcAft>
                <a:spcPts val="0"/>
              </a:spcAft>
              <a:buClr>
                <a:srgbClr val="2F4156"/>
              </a:buClr>
              <a:buSzPts val="4800"/>
              <a:buFont typeface="Arial"/>
              <a:buNone/>
            </a:pPr>
            <a:r>
              <a:rPr b="1" i="0" lang="en-US" sz="4800" u="none" cap="none" strike="noStrike">
                <a:solidFill>
                  <a:srgbClr val="2F4156"/>
                </a:solidFill>
                <a:latin typeface="Arial"/>
                <a:ea typeface="Arial"/>
                <a:cs typeface="Arial"/>
                <a:sym typeface="Arial"/>
              </a:rPr>
              <a:t>What the Model Delivers</a:t>
            </a:r>
            <a:endParaRPr b="0" i="0" sz="4800" u="none" cap="none" strike="noStrike">
              <a:solidFill>
                <a:schemeClr val="dk1"/>
              </a:solidFill>
              <a:latin typeface="Calibri"/>
              <a:ea typeface="Calibri"/>
              <a:cs typeface="Calibri"/>
              <a:sym typeface="Calibri"/>
            </a:endParaRPr>
          </a:p>
        </p:txBody>
      </p:sp>
      <p:sp>
        <p:nvSpPr>
          <p:cNvPr id="97" name="Google Shape;97;p16"/>
          <p:cNvSpPr/>
          <p:nvPr/>
        </p:nvSpPr>
        <p:spPr>
          <a:xfrm>
            <a:off x="1143000" y="1915617"/>
            <a:ext cx="609600" cy="38100"/>
          </a:xfrm>
          <a:prstGeom prst="roundRect">
            <a:avLst>
              <a:gd fmla="val 50000" name="adj"/>
            </a:avLst>
          </a:prstGeom>
          <a:solidFill>
            <a:srgbClr val="659B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16"/>
          <p:cNvSpPr/>
          <p:nvPr/>
        </p:nvSpPr>
        <p:spPr>
          <a:xfrm>
            <a:off x="6457950" y="2372817"/>
            <a:ext cx="9525" cy="7228384"/>
          </a:xfrm>
          <a:prstGeom prst="rect">
            <a:avLst/>
          </a:prstGeom>
          <a:solidFill>
            <a:srgbClr val="659BB9">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16"/>
          <p:cNvSpPr/>
          <p:nvPr/>
        </p:nvSpPr>
        <p:spPr>
          <a:xfrm>
            <a:off x="3419475" y="4177209"/>
            <a:ext cx="762000" cy="762000"/>
          </a:xfrm>
          <a:prstGeom prst="ellipse">
            <a:avLst/>
          </a:prstGeom>
          <a:solidFill>
            <a:srgbClr val="659BB9">
              <a:alpha val="2196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0" name="Google Shape;100;p16"/>
          <p:cNvPicPr preferRelativeResize="0"/>
          <p:nvPr/>
        </p:nvPicPr>
        <p:blipFill rotWithShape="1">
          <a:blip r:embed="rId3">
            <a:alphaModFix/>
          </a:blip>
          <a:srcRect b="0" l="0" r="0" t="0"/>
          <a:stretch/>
        </p:blipFill>
        <p:spPr>
          <a:xfrm>
            <a:off x="3609975" y="4367709"/>
            <a:ext cx="381000" cy="381000"/>
          </a:xfrm>
          <a:prstGeom prst="rect">
            <a:avLst/>
          </a:prstGeom>
          <a:noFill/>
          <a:ln>
            <a:noFill/>
          </a:ln>
        </p:spPr>
      </p:pic>
      <p:sp>
        <p:nvSpPr>
          <p:cNvPr id="101" name="Google Shape;101;p16"/>
          <p:cNvSpPr/>
          <p:nvPr/>
        </p:nvSpPr>
        <p:spPr>
          <a:xfrm>
            <a:off x="2732881" y="5091609"/>
            <a:ext cx="2348706" cy="11049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659BB9"/>
              </a:buClr>
              <a:buSzPts val="8400"/>
              <a:buFont typeface="Arial"/>
              <a:buNone/>
            </a:pPr>
            <a:r>
              <a:rPr b="1" i="0" lang="en-US" sz="8400" u="none" cap="none" strike="noStrike">
                <a:solidFill>
                  <a:srgbClr val="659BB9"/>
                </a:solidFill>
                <a:latin typeface="Arial"/>
                <a:ea typeface="Arial"/>
                <a:cs typeface="Arial"/>
                <a:sym typeface="Arial"/>
              </a:rPr>
              <a:t>4.2x</a:t>
            </a:r>
            <a:endParaRPr b="0" i="0" sz="8400" u="none" cap="none" strike="noStrike">
              <a:solidFill>
                <a:schemeClr val="dk1"/>
              </a:solidFill>
              <a:latin typeface="Calibri"/>
              <a:ea typeface="Calibri"/>
              <a:cs typeface="Calibri"/>
              <a:sym typeface="Calibri"/>
            </a:endParaRPr>
          </a:p>
        </p:txBody>
      </p:sp>
      <p:sp>
        <p:nvSpPr>
          <p:cNvPr id="102" name="Google Shape;102;p16"/>
          <p:cNvSpPr/>
          <p:nvPr/>
        </p:nvSpPr>
        <p:spPr>
          <a:xfrm>
            <a:off x="2740720" y="6310809"/>
            <a:ext cx="2119511" cy="342900"/>
          </a:xfrm>
          <a:prstGeom prst="rect">
            <a:avLst/>
          </a:prstGeom>
          <a:noFill/>
          <a:ln>
            <a:noFill/>
          </a:ln>
        </p:spPr>
        <p:txBody>
          <a:bodyPr anchorCtr="0" anchor="t" bIns="25400" lIns="25400" spcFirstLastPara="1" rIns="25400" wrap="square" tIns="25400">
            <a:normAutofit/>
          </a:bodyPr>
          <a:lstStyle/>
          <a:p>
            <a:pPr indent="0" lvl="0" marL="0" marR="0" rtl="0" algn="ctr">
              <a:lnSpc>
                <a:spcPct val="100000"/>
              </a:lnSpc>
              <a:spcBef>
                <a:spcPts val="0"/>
              </a:spcBef>
              <a:spcAft>
                <a:spcPts val="0"/>
              </a:spcAft>
              <a:buClr>
                <a:srgbClr val="2F4156"/>
              </a:buClr>
              <a:buSzPts val="2100"/>
              <a:buFont typeface="Arial"/>
              <a:buNone/>
            </a:pPr>
            <a:r>
              <a:rPr b="1" i="0" lang="en-US" sz="2100" u="none" cap="none" strike="noStrike">
                <a:solidFill>
                  <a:srgbClr val="2F4156"/>
                </a:solidFill>
                <a:latin typeface="Arial"/>
                <a:ea typeface="Arial"/>
                <a:cs typeface="Arial"/>
                <a:sym typeface="Arial"/>
              </a:rPr>
              <a:t>Better Than Guessing</a:t>
            </a:r>
            <a:endParaRPr b="0" i="0" sz="2100" u="none" cap="none" strike="noStrike">
              <a:solidFill>
                <a:schemeClr val="dk1"/>
              </a:solidFill>
              <a:latin typeface="Calibri"/>
              <a:ea typeface="Calibri"/>
              <a:cs typeface="Calibri"/>
              <a:sym typeface="Calibri"/>
            </a:endParaRPr>
          </a:p>
        </p:txBody>
      </p:sp>
      <p:sp>
        <p:nvSpPr>
          <p:cNvPr id="103" name="Google Shape;103;p16"/>
          <p:cNvSpPr/>
          <p:nvPr/>
        </p:nvSpPr>
        <p:spPr>
          <a:xfrm>
            <a:off x="2230755" y="7155635"/>
            <a:ext cx="3139500" cy="1066800"/>
          </a:xfrm>
          <a:prstGeom prst="rect">
            <a:avLst/>
          </a:prstGeom>
          <a:noFill/>
          <a:ln>
            <a:noFill/>
          </a:ln>
        </p:spPr>
        <p:txBody>
          <a:bodyPr anchorCtr="0" anchor="t" bIns="25400" lIns="25400" spcFirstLastPara="1" rIns="25400" wrap="square" tIns="25400">
            <a:normAutofit/>
          </a:bodyPr>
          <a:lstStyle/>
          <a:p>
            <a:pPr indent="0" lvl="0" marL="0" marR="0" rtl="0" algn="ctr">
              <a:lnSpc>
                <a:spcPct val="150000"/>
              </a:lnSpc>
              <a:spcBef>
                <a:spcPts val="0"/>
              </a:spcBef>
              <a:spcAft>
                <a:spcPts val="0"/>
              </a:spcAft>
              <a:buClr>
                <a:srgbClr val="7A8E9E"/>
              </a:buClr>
              <a:buSzPts val="1800"/>
              <a:buFont typeface="Arial"/>
              <a:buNone/>
            </a:pPr>
            <a:r>
              <a:rPr b="0" i="0" lang="en-US" sz="1800" u="none" cap="none" strike="noStrike">
                <a:solidFill>
                  <a:srgbClr val="7A8E9E"/>
                </a:solidFill>
                <a:latin typeface="Arial"/>
                <a:ea typeface="Arial"/>
                <a:cs typeface="Arial"/>
                <a:sym typeface="Arial"/>
              </a:rPr>
              <a:t>Accuracy against picking households at random from the customer base</a:t>
            </a:r>
            <a:endParaRPr b="0" i="0" sz="1800" u="none" cap="none" strike="noStrike">
              <a:solidFill>
                <a:schemeClr val="dk1"/>
              </a:solidFill>
              <a:latin typeface="Calibri"/>
              <a:ea typeface="Calibri"/>
              <a:cs typeface="Calibri"/>
              <a:sym typeface="Calibri"/>
            </a:endParaRPr>
          </a:p>
        </p:txBody>
      </p:sp>
      <p:sp>
        <p:nvSpPr>
          <p:cNvPr id="104" name="Google Shape;104;p16"/>
          <p:cNvSpPr/>
          <p:nvPr/>
        </p:nvSpPr>
        <p:spPr>
          <a:xfrm>
            <a:off x="6483350" y="2372817"/>
            <a:ext cx="5321300" cy="7228384"/>
          </a:xfrm>
          <a:prstGeom prst="rect">
            <a:avLst/>
          </a:prstGeom>
          <a:solidFill>
            <a:srgbClr val="659BB9">
              <a:alpha val="1215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16"/>
          <p:cNvSpPr/>
          <p:nvPr/>
        </p:nvSpPr>
        <p:spPr>
          <a:xfrm>
            <a:off x="11798300" y="2372817"/>
            <a:ext cx="9525" cy="7228384"/>
          </a:xfrm>
          <a:prstGeom prst="rect">
            <a:avLst/>
          </a:prstGeom>
          <a:solidFill>
            <a:srgbClr val="659BB9">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16"/>
          <p:cNvSpPr/>
          <p:nvPr/>
        </p:nvSpPr>
        <p:spPr>
          <a:xfrm>
            <a:off x="8759825" y="4177209"/>
            <a:ext cx="762000" cy="762000"/>
          </a:xfrm>
          <a:prstGeom prst="ellipse">
            <a:avLst/>
          </a:prstGeom>
          <a:solidFill>
            <a:srgbClr val="659B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7" name="Google Shape;107;p16"/>
          <p:cNvPicPr preferRelativeResize="0"/>
          <p:nvPr/>
        </p:nvPicPr>
        <p:blipFill rotWithShape="1">
          <a:blip r:embed="rId4">
            <a:alphaModFix/>
          </a:blip>
          <a:srcRect b="0" l="0" r="0" t="0"/>
          <a:stretch/>
        </p:blipFill>
        <p:spPr>
          <a:xfrm>
            <a:off x="8950325" y="4367709"/>
            <a:ext cx="381000" cy="381000"/>
          </a:xfrm>
          <a:prstGeom prst="rect">
            <a:avLst/>
          </a:prstGeom>
          <a:noFill/>
          <a:ln>
            <a:noFill/>
          </a:ln>
        </p:spPr>
      </p:pic>
      <p:sp>
        <p:nvSpPr>
          <p:cNvPr id="108" name="Google Shape;108;p16"/>
          <p:cNvSpPr/>
          <p:nvPr/>
        </p:nvSpPr>
        <p:spPr>
          <a:xfrm>
            <a:off x="7628334" y="5091609"/>
            <a:ext cx="3327370" cy="11049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2F4156"/>
              </a:buClr>
              <a:buSzPts val="8400"/>
              <a:buFont typeface="Arial"/>
              <a:buNone/>
            </a:pPr>
            <a:r>
              <a:rPr b="1" i="0" lang="en-US" sz="8400" u="none" cap="none" strike="noStrike">
                <a:solidFill>
                  <a:srgbClr val="2F4156"/>
                </a:solidFill>
                <a:latin typeface="Arial"/>
                <a:ea typeface="Arial"/>
                <a:cs typeface="Arial"/>
                <a:sym typeface="Arial"/>
              </a:rPr>
              <a:t>3 in 4</a:t>
            </a:r>
            <a:endParaRPr b="0" i="0" sz="8400" u="none" cap="none" strike="noStrike">
              <a:solidFill>
                <a:schemeClr val="dk1"/>
              </a:solidFill>
              <a:latin typeface="Calibri"/>
              <a:ea typeface="Calibri"/>
              <a:cs typeface="Calibri"/>
              <a:sym typeface="Calibri"/>
            </a:endParaRPr>
          </a:p>
        </p:txBody>
      </p:sp>
      <p:sp>
        <p:nvSpPr>
          <p:cNvPr id="109" name="Google Shape;109;p16"/>
          <p:cNvSpPr/>
          <p:nvPr/>
        </p:nvSpPr>
        <p:spPr>
          <a:xfrm>
            <a:off x="7844676" y="6310809"/>
            <a:ext cx="2592199" cy="342900"/>
          </a:xfrm>
          <a:prstGeom prst="rect">
            <a:avLst/>
          </a:prstGeom>
          <a:noFill/>
          <a:ln>
            <a:noFill/>
          </a:ln>
        </p:spPr>
        <p:txBody>
          <a:bodyPr anchorCtr="0" anchor="t" bIns="25400" lIns="25400" spcFirstLastPara="1" rIns="25400" wrap="square" tIns="25400">
            <a:normAutofit/>
          </a:bodyPr>
          <a:lstStyle/>
          <a:p>
            <a:pPr indent="0" lvl="0" marL="0" marR="0" rtl="0" algn="ctr">
              <a:lnSpc>
                <a:spcPct val="100000"/>
              </a:lnSpc>
              <a:spcBef>
                <a:spcPts val="0"/>
              </a:spcBef>
              <a:spcAft>
                <a:spcPts val="0"/>
              </a:spcAft>
              <a:buClr>
                <a:srgbClr val="2F4156"/>
              </a:buClr>
              <a:buSzPts val="2100"/>
              <a:buFont typeface="Arial"/>
              <a:buNone/>
            </a:pPr>
            <a:r>
              <a:rPr b="1" i="0" lang="en-US" sz="2100" u="none" cap="none" strike="noStrike">
                <a:solidFill>
                  <a:srgbClr val="2F4156"/>
                </a:solidFill>
                <a:latin typeface="Arial"/>
                <a:ea typeface="Arial"/>
                <a:cs typeface="Arial"/>
                <a:sym typeface="Arial"/>
              </a:rPr>
              <a:t>Flagged and Correct</a:t>
            </a:r>
            <a:endParaRPr b="0" i="0" sz="2100" u="none" cap="none" strike="noStrike">
              <a:solidFill>
                <a:schemeClr val="dk1"/>
              </a:solidFill>
              <a:latin typeface="Calibri"/>
              <a:ea typeface="Calibri"/>
              <a:cs typeface="Calibri"/>
              <a:sym typeface="Calibri"/>
            </a:endParaRPr>
          </a:p>
        </p:txBody>
      </p:sp>
      <p:sp>
        <p:nvSpPr>
          <p:cNvPr id="110" name="Google Shape;110;p16"/>
          <p:cNvSpPr/>
          <p:nvPr/>
        </p:nvSpPr>
        <p:spPr>
          <a:xfrm>
            <a:off x="7571105" y="7155635"/>
            <a:ext cx="3139500" cy="1066800"/>
          </a:xfrm>
          <a:prstGeom prst="rect">
            <a:avLst/>
          </a:prstGeom>
          <a:noFill/>
          <a:ln>
            <a:noFill/>
          </a:ln>
        </p:spPr>
        <p:txBody>
          <a:bodyPr anchorCtr="0" anchor="t" bIns="25400" lIns="25400" spcFirstLastPara="1" rIns="25400" wrap="square" tIns="25400">
            <a:normAutofit/>
          </a:bodyPr>
          <a:lstStyle/>
          <a:p>
            <a:pPr indent="0" lvl="0" marL="0" marR="0" rtl="0" algn="ctr">
              <a:lnSpc>
                <a:spcPct val="150000"/>
              </a:lnSpc>
              <a:spcBef>
                <a:spcPts val="0"/>
              </a:spcBef>
              <a:spcAft>
                <a:spcPts val="0"/>
              </a:spcAft>
              <a:buClr>
                <a:srgbClr val="4A5A6A"/>
              </a:buClr>
              <a:buSzPts val="1800"/>
              <a:buFont typeface="Arial"/>
              <a:buNone/>
            </a:pPr>
            <a:r>
              <a:rPr b="0" i="0" lang="en-US" sz="1800" u="none" cap="none" strike="noStrike">
                <a:solidFill>
                  <a:srgbClr val="4A5A6A"/>
                </a:solidFill>
                <a:latin typeface="Arial"/>
                <a:ea typeface="Arial"/>
                <a:cs typeface="Arial"/>
                <a:sym typeface="Arial"/>
              </a:rPr>
              <a:t>Of the fifty highest-risk households, thirty-seven genuinely stopped shopping</a:t>
            </a:r>
            <a:endParaRPr b="0" i="0" sz="1800" u="none" cap="none" strike="noStrike">
              <a:solidFill>
                <a:schemeClr val="dk1"/>
              </a:solidFill>
              <a:latin typeface="Calibri"/>
              <a:ea typeface="Calibri"/>
              <a:cs typeface="Calibri"/>
              <a:sym typeface="Calibri"/>
            </a:endParaRPr>
          </a:p>
        </p:txBody>
      </p:sp>
      <p:sp>
        <p:nvSpPr>
          <p:cNvPr id="111" name="Google Shape;111;p16"/>
          <p:cNvSpPr/>
          <p:nvPr/>
        </p:nvSpPr>
        <p:spPr>
          <a:xfrm>
            <a:off x="14103351" y="4177209"/>
            <a:ext cx="762000" cy="762000"/>
          </a:xfrm>
          <a:prstGeom prst="ellipse">
            <a:avLst/>
          </a:prstGeom>
          <a:solidFill>
            <a:srgbClr val="659BB9">
              <a:alpha val="2196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2" name="Google Shape;112;p16"/>
          <p:cNvPicPr preferRelativeResize="0"/>
          <p:nvPr/>
        </p:nvPicPr>
        <p:blipFill rotWithShape="1">
          <a:blip r:embed="rId5">
            <a:alphaModFix/>
          </a:blip>
          <a:srcRect b="0" l="0" r="0" t="0"/>
          <a:stretch/>
        </p:blipFill>
        <p:spPr>
          <a:xfrm>
            <a:off x="14293851" y="4367709"/>
            <a:ext cx="381000" cy="381000"/>
          </a:xfrm>
          <a:prstGeom prst="rect">
            <a:avLst/>
          </a:prstGeom>
          <a:noFill/>
          <a:ln>
            <a:noFill/>
          </a:ln>
        </p:spPr>
      </p:pic>
      <p:sp>
        <p:nvSpPr>
          <p:cNvPr id="113" name="Google Shape;113;p16"/>
          <p:cNvSpPr/>
          <p:nvPr/>
        </p:nvSpPr>
        <p:spPr>
          <a:xfrm>
            <a:off x="13416955" y="5091609"/>
            <a:ext cx="2348161" cy="11049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659BB9"/>
              </a:buClr>
              <a:buSzPts val="8400"/>
              <a:buFont typeface="Arial"/>
              <a:buNone/>
            </a:pPr>
            <a:r>
              <a:rPr b="1" i="0" lang="en-US" sz="8400" u="none" cap="none" strike="noStrike">
                <a:solidFill>
                  <a:srgbClr val="659BB9"/>
                </a:solidFill>
                <a:latin typeface="Arial"/>
                <a:ea typeface="Arial"/>
                <a:cs typeface="Arial"/>
                <a:sym typeface="Arial"/>
              </a:rPr>
              <a:t>50%</a:t>
            </a:r>
            <a:endParaRPr b="0" i="0" sz="8400" u="none" cap="none" strike="noStrike">
              <a:solidFill>
                <a:schemeClr val="dk1"/>
              </a:solidFill>
              <a:latin typeface="Calibri"/>
              <a:ea typeface="Calibri"/>
              <a:cs typeface="Calibri"/>
              <a:sym typeface="Calibri"/>
            </a:endParaRPr>
          </a:p>
        </p:txBody>
      </p:sp>
      <p:sp>
        <p:nvSpPr>
          <p:cNvPr id="114" name="Google Shape;114;p16"/>
          <p:cNvSpPr/>
          <p:nvPr/>
        </p:nvSpPr>
        <p:spPr>
          <a:xfrm>
            <a:off x="13315677" y="6310809"/>
            <a:ext cx="2337247" cy="342900"/>
          </a:xfrm>
          <a:prstGeom prst="rect">
            <a:avLst/>
          </a:prstGeom>
          <a:noFill/>
          <a:ln>
            <a:noFill/>
          </a:ln>
        </p:spPr>
        <p:txBody>
          <a:bodyPr anchorCtr="0" anchor="t" bIns="25400" lIns="25400" spcFirstLastPara="1" rIns="25400" wrap="square" tIns="25400">
            <a:normAutofit/>
          </a:bodyPr>
          <a:lstStyle/>
          <a:p>
            <a:pPr indent="0" lvl="0" marL="0" marR="0" rtl="0" algn="ctr">
              <a:lnSpc>
                <a:spcPct val="100000"/>
              </a:lnSpc>
              <a:spcBef>
                <a:spcPts val="0"/>
              </a:spcBef>
              <a:spcAft>
                <a:spcPts val="0"/>
              </a:spcAft>
              <a:buClr>
                <a:srgbClr val="2F4156"/>
              </a:buClr>
              <a:buSzPts val="2100"/>
              <a:buFont typeface="Arial"/>
              <a:buNone/>
            </a:pPr>
            <a:r>
              <a:rPr b="1" i="0" lang="en-US" sz="2100" u="none" cap="none" strike="noStrike">
                <a:solidFill>
                  <a:srgbClr val="2F4156"/>
                </a:solidFill>
                <a:latin typeface="Arial"/>
                <a:ea typeface="Arial"/>
                <a:cs typeface="Arial"/>
                <a:sym typeface="Arial"/>
              </a:rPr>
              <a:t>Of All Leavers Caught</a:t>
            </a:r>
            <a:endParaRPr b="0" i="0" sz="2100" u="none" cap="none" strike="noStrike">
              <a:solidFill>
                <a:schemeClr val="dk1"/>
              </a:solidFill>
              <a:latin typeface="Calibri"/>
              <a:ea typeface="Calibri"/>
              <a:cs typeface="Calibri"/>
              <a:sym typeface="Calibri"/>
            </a:endParaRPr>
          </a:p>
        </p:txBody>
      </p:sp>
      <p:sp>
        <p:nvSpPr>
          <p:cNvPr id="115" name="Google Shape;115;p16"/>
          <p:cNvSpPr/>
          <p:nvPr/>
        </p:nvSpPr>
        <p:spPr>
          <a:xfrm>
            <a:off x="12914631" y="7155635"/>
            <a:ext cx="3139500" cy="1066800"/>
          </a:xfrm>
          <a:prstGeom prst="rect">
            <a:avLst/>
          </a:prstGeom>
          <a:noFill/>
          <a:ln>
            <a:noFill/>
          </a:ln>
        </p:spPr>
        <p:txBody>
          <a:bodyPr anchorCtr="0" anchor="t" bIns="25400" lIns="25400" spcFirstLastPara="1" rIns="25400" wrap="square" tIns="25400">
            <a:normAutofit/>
          </a:bodyPr>
          <a:lstStyle/>
          <a:p>
            <a:pPr indent="0" lvl="0" marL="0" marR="0" rtl="0" algn="ctr">
              <a:lnSpc>
                <a:spcPct val="150000"/>
              </a:lnSpc>
              <a:spcBef>
                <a:spcPts val="0"/>
              </a:spcBef>
              <a:spcAft>
                <a:spcPts val="0"/>
              </a:spcAft>
              <a:buClr>
                <a:srgbClr val="7A8E9E"/>
              </a:buClr>
              <a:buSzPts val="1800"/>
              <a:buFont typeface="Arial"/>
              <a:buNone/>
            </a:pPr>
            <a:r>
              <a:rPr b="0" i="0" lang="en-US" sz="1800" u="none" cap="none" strike="noStrike">
                <a:solidFill>
                  <a:srgbClr val="7A8E9E"/>
                </a:solidFill>
                <a:latin typeface="Arial"/>
                <a:ea typeface="Arial"/>
                <a:cs typeface="Arial"/>
                <a:sym typeface="Arial"/>
              </a:rPr>
              <a:t>Half of everyone who left the business appears in a single list of fifty names</a:t>
            </a:r>
            <a:endParaRPr b="0" i="0" sz="1800" u="none" cap="none" strike="noStrike">
              <a:solidFill>
                <a:schemeClr val="dk1"/>
              </a:solidFill>
              <a:latin typeface="Calibri"/>
              <a:ea typeface="Calibri"/>
              <a:cs typeface="Calibri"/>
              <a:sym typeface="Calibri"/>
            </a:endParaRPr>
          </a:p>
        </p:txBody>
      </p:sp>
      <p:pic>
        <p:nvPicPr>
          <p:cNvPr descr="preencoded.png" id="116" name="Google Shape;116;p16"/>
          <p:cNvPicPr preferRelativeResize="0"/>
          <p:nvPr/>
        </p:nvPicPr>
        <p:blipFill rotWithShape="1">
          <a:blip r:embed="rId6">
            <a:alphaModFix amt="55000"/>
          </a:blip>
          <a:srcRect b="0" l="0" r="0" t="0"/>
          <a:stretch/>
        </p:blipFill>
        <p:spPr>
          <a:xfrm>
            <a:off x="16097250" y="8625682"/>
            <a:ext cx="1047750" cy="97551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EF"/>
        </a:solidFill>
      </p:bgPr>
    </p:bg>
    <p:spTree>
      <p:nvGrpSpPr>
        <p:cNvPr id="121" name="Shape 121"/>
        <p:cNvGrpSpPr/>
        <p:nvPr/>
      </p:nvGrpSpPr>
      <p:grpSpPr>
        <a:xfrm>
          <a:off x="0" y="0"/>
          <a:ext cx="0" cy="0"/>
          <a:chOff x="0" y="0"/>
          <a:chExt cx="0" cy="0"/>
        </a:xfrm>
      </p:grpSpPr>
      <p:sp>
        <p:nvSpPr>
          <p:cNvPr id="122" name="Google Shape;122;p32"/>
          <p:cNvSpPr/>
          <p:nvPr/>
        </p:nvSpPr>
        <p:spPr>
          <a:xfrm>
            <a:off x="1143000" y="838200"/>
            <a:ext cx="17602200" cy="696416"/>
          </a:xfrm>
          <a:prstGeom prst="rect">
            <a:avLst/>
          </a:prstGeom>
          <a:noFill/>
          <a:ln>
            <a:noFill/>
          </a:ln>
        </p:spPr>
        <p:txBody>
          <a:bodyPr anchorCtr="0" anchor="t" bIns="25400" lIns="25400" spcFirstLastPara="1" rIns="25400" wrap="square" tIns="25400">
            <a:normAutofit/>
          </a:bodyPr>
          <a:lstStyle/>
          <a:p>
            <a:pPr indent="0" lvl="0" marL="0" marR="0" rtl="0" algn="l">
              <a:lnSpc>
                <a:spcPct val="108000"/>
              </a:lnSpc>
              <a:spcBef>
                <a:spcPts val="0"/>
              </a:spcBef>
              <a:spcAft>
                <a:spcPts val="0"/>
              </a:spcAft>
              <a:buClr>
                <a:srgbClr val="2F4156"/>
              </a:buClr>
              <a:buSzPts val="4800"/>
              <a:buFont typeface="Arial"/>
              <a:buNone/>
            </a:pPr>
            <a:r>
              <a:rPr b="1" i="0" lang="en-US" sz="4800" u="none" cap="none" strike="noStrike">
                <a:solidFill>
                  <a:srgbClr val="2F4156"/>
                </a:solidFill>
                <a:latin typeface="Arial"/>
                <a:ea typeface="Arial"/>
                <a:cs typeface="Arial"/>
                <a:sym typeface="Arial"/>
              </a:rPr>
              <a:t>How Long Should the List Be?</a:t>
            </a:r>
            <a:endParaRPr b="0" i="0" sz="4800" u="none" cap="none" strike="noStrike">
              <a:solidFill>
                <a:schemeClr val="dk1"/>
              </a:solidFill>
              <a:latin typeface="Calibri"/>
              <a:ea typeface="Calibri"/>
              <a:cs typeface="Calibri"/>
              <a:sym typeface="Calibri"/>
            </a:endParaRPr>
          </a:p>
        </p:txBody>
      </p:sp>
      <p:sp>
        <p:nvSpPr>
          <p:cNvPr id="123" name="Google Shape;123;p32"/>
          <p:cNvSpPr/>
          <p:nvPr/>
        </p:nvSpPr>
        <p:spPr>
          <a:xfrm>
            <a:off x="1143000" y="1915617"/>
            <a:ext cx="609600" cy="38100"/>
          </a:xfrm>
          <a:prstGeom prst="roundRect">
            <a:avLst>
              <a:gd fmla="val 50000" name="adj"/>
            </a:avLst>
          </a:prstGeom>
          <a:solidFill>
            <a:srgbClr val="659B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32"/>
          <p:cNvSpPr/>
          <p:nvPr/>
        </p:nvSpPr>
        <p:spPr>
          <a:xfrm>
            <a:off x="1143000" y="3643809"/>
            <a:ext cx="8376325" cy="3048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659BB9"/>
              </a:buClr>
              <a:buSzPts val="1800"/>
              <a:buFont typeface="Arial"/>
              <a:buNone/>
            </a:pPr>
            <a:r>
              <a:rPr b="0" i="0" lang="en-US" sz="1800" u="none" cap="none" strike="noStrike">
                <a:solidFill>
                  <a:srgbClr val="659BB9"/>
                </a:solidFill>
                <a:latin typeface="Arial"/>
                <a:ea typeface="Arial"/>
                <a:cs typeface="Arial"/>
                <a:sym typeface="Arial"/>
              </a:rPr>
              <a:t>TARGETING</a:t>
            </a:r>
            <a:endParaRPr b="0" i="0" sz="1800" u="none" cap="none" strike="noStrike">
              <a:solidFill>
                <a:schemeClr val="dk1"/>
              </a:solidFill>
              <a:latin typeface="Calibri"/>
              <a:ea typeface="Calibri"/>
              <a:cs typeface="Calibri"/>
              <a:sym typeface="Calibri"/>
            </a:endParaRPr>
          </a:p>
        </p:txBody>
      </p:sp>
      <p:sp>
        <p:nvSpPr>
          <p:cNvPr id="125" name="Google Shape;125;p32"/>
          <p:cNvSpPr/>
          <p:nvPr/>
        </p:nvSpPr>
        <p:spPr>
          <a:xfrm>
            <a:off x="1143000" y="4291509"/>
            <a:ext cx="8376325" cy="3429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2F4156"/>
              </a:buClr>
              <a:buSzPts val="2100"/>
              <a:buFont typeface="Arial"/>
              <a:buNone/>
            </a:pPr>
            <a:r>
              <a:rPr b="1" i="0" lang="en-US" sz="2100" u="none" cap="none" strike="noStrike">
                <a:solidFill>
                  <a:srgbClr val="2F4156"/>
                </a:solidFill>
                <a:latin typeface="Arial"/>
                <a:ea typeface="Arial"/>
                <a:cs typeface="Arial"/>
                <a:sym typeface="Arial"/>
              </a:rPr>
              <a:t>Hit rate and coverage by list size</a:t>
            </a:r>
            <a:endParaRPr b="0" i="0" sz="2100" u="none" cap="none" strike="noStrike">
              <a:solidFill>
                <a:schemeClr val="dk1"/>
              </a:solidFill>
              <a:latin typeface="Calibri"/>
              <a:ea typeface="Calibri"/>
              <a:cs typeface="Calibri"/>
              <a:sym typeface="Calibri"/>
            </a:endParaRPr>
          </a:p>
        </p:txBody>
      </p:sp>
      <p:sp>
        <p:nvSpPr>
          <p:cNvPr id="126" name="Google Shape;126;p32"/>
          <p:cNvSpPr/>
          <p:nvPr/>
        </p:nvSpPr>
        <p:spPr>
          <a:xfrm>
            <a:off x="9710341" y="2944317"/>
            <a:ext cx="9525" cy="6085384"/>
          </a:xfrm>
          <a:prstGeom prst="rect">
            <a:avLst/>
          </a:prstGeom>
          <a:solidFill>
            <a:srgbClr val="659BB9">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32"/>
          <p:cNvSpPr/>
          <p:nvPr/>
        </p:nvSpPr>
        <p:spPr>
          <a:xfrm>
            <a:off x="10672366" y="3571577"/>
            <a:ext cx="7119898" cy="3048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659BB9"/>
              </a:buClr>
              <a:buSzPts val="1800"/>
              <a:buFont typeface="Arial"/>
              <a:buNone/>
            </a:pPr>
            <a:r>
              <a:rPr b="0" i="0" lang="en-US" sz="1800" u="none" cap="none" strike="noStrike">
                <a:solidFill>
                  <a:srgbClr val="659BB9"/>
                </a:solidFill>
                <a:latin typeface="Arial"/>
                <a:ea typeface="Arial"/>
                <a:cs typeface="Arial"/>
                <a:sym typeface="Arial"/>
              </a:rPr>
              <a:t>KEY TAKEAWAY</a:t>
            </a:r>
            <a:endParaRPr b="0" i="0" sz="1800" u="none" cap="none" strike="noStrike">
              <a:solidFill>
                <a:schemeClr val="dk1"/>
              </a:solidFill>
              <a:latin typeface="Calibri"/>
              <a:ea typeface="Calibri"/>
              <a:cs typeface="Calibri"/>
              <a:sym typeface="Calibri"/>
            </a:endParaRPr>
          </a:p>
        </p:txBody>
      </p:sp>
      <p:sp>
        <p:nvSpPr>
          <p:cNvPr id="128" name="Google Shape;128;p32"/>
          <p:cNvSpPr/>
          <p:nvPr/>
        </p:nvSpPr>
        <p:spPr>
          <a:xfrm>
            <a:off x="10672366" y="4257377"/>
            <a:ext cx="6666814" cy="2316163"/>
          </a:xfrm>
          <a:prstGeom prst="rect">
            <a:avLst/>
          </a:prstGeom>
          <a:noFill/>
          <a:ln>
            <a:noFill/>
          </a:ln>
        </p:spPr>
        <p:txBody>
          <a:bodyPr anchorCtr="0" anchor="t" bIns="25400" lIns="25400" spcFirstLastPara="1" rIns="25400" wrap="square" tIns="25400">
            <a:normAutofit/>
          </a:bodyPr>
          <a:lstStyle/>
          <a:p>
            <a:pPr indent="0" lvl="0" marL="0" marR="0" rtl="0" algn="l">
              <a:lnSpc>
                <a:spcPct val="115000"/>
              </a:lnSpc>
              <a:spcBef>
                <a:spcPts val="0"/>
              </a:spcBef>
              <a:spcAft>
                <a:spcPts val="0"/>
              </a:spcAft>
              <a:buClr>
                <a:srgbClr val="2F4156"/>
              </a:buClr>
              <a:buSzPts val="3900"/>
              <a:buFont typeface="Arial"/>
              <a:buNone/>
            </a:pPr>
            <a:r>
              <a:rPr b="1" i="0" lang="en-US" sz="3900" u="none" cap="none" strike="noStrike">
                <a:solidFill>
                  <a:srgbClr val="2F4156"/>
                </a:solidFill>
                <a:latin typeface="Arial"/>
                <a:ea typeface="Arial"/>
                <a:cs typeface="Arial"/>
                <a:sym typeface="Arial"/>
              </a:rPr>
              <a:t>Fifty names is the point where accuracy and coverage are both still high.</a:t>
            </a:r>
            <a:endParaRPr b="0" i="0" sz="3900" u="none" cap="none" strike="noStrike">
              <a:solidFill>
                <a:schemeClr val="dk1"/>
              </a:solidFill>
              <a:latin typeface="Calibri"/>
              <a:ea typeface="Calibri"/>
              <a:cs typeface="Calibri"/>
              <a:sym typeface="Calibri"/>
            </a:endParaRPr>
          </a:p>
        </p:txBody>
      </p:sp>
      <p:sp>
        <p:nvSpPr>
          <p:cNvPr id="129" name="Google Shape;129;p32"/>
          <p:cNvSpPr/>
          <p:nvPr/>
        </p:nvSpPr>
        <p:spPr>
          <a:xfrm>
            <a:off x="10672366" y="6802140"/>
            <a:ext cx="6666814" cy="1638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4A5A6A"/>
              </a:buClr>
              <a:buSzPts val="2100"/>
              <a:buFont typeface="Arial"/>
              <a:buNone/>
            </a:pPr>
            <a:r>
              <a:rPr b="0" i="0" lang="en-US" sz="2100" u="none" cap="none" strike="noStrike">
                <a:solidFill>
                  <a:srgbClr val="4A5A6A"/>
                </a:solidFill>
                <a:latin typeface="Arial"/>
                <a:ea typeface="Arial"/>
                <a:cs typeface="Arial"/>
                <a:sym typeface="Arial"/>
              </a:rPr>
              <a:t>Contacting more people always catches more leavers, but the hit rate drops once the list passes fifty. </a:t>
            </a:r>
            <a:r>
              <a:rPr b="1" i="0" lang="en-US" sz="2100" u="none" cap="none" strike="noStrike">
                <a:solidFill>
                  <a:srgbClr val="2F4156"/>
                </a:solidFill>
                <a:latin typeface="Arial"/>
                <a:ea typeface="Arial"/>
                <a:cs typeface="Arial"/>
                <a:sym typeface="Arial"/>
              </a:rPr>
              <a:t>An expensive action should stop at fifty</a:t>
            </a:r>
            <a:r>
              <a:rPr b="0" i="0" lang="en-US" sz="2100" u="none" cap="none" strike="noStrike">
                <a:solidFill>
                  <a:srgbClr val="4A5A6A"/>
                </a:solidFill>
                <a:latin typeface="Arial"/>
                <a:ea typeface="Arial"/>
                <a:cs typeface="Arial"/>
                <a:sym typeface="Arial"/>
              </a:rPr>
              <a:t>; a cheap automated offer can safely run further down. The right length is a budget decision, and the chart shows what each extra name costs in precision.</a:t>
            </a:r>
            <a:endParaRPr b="0" i="0" sz="2100" u="none" cap="none" strike="noStrike">
              <a:solidFill>
                <a:schemeClr val="dk1"/>
              </a:solidFill>
              <a:latin typeface="Calibri"/>
              <a:ea typeface="Calibri"/>
              <a:cs typeface="Calibri"/>
              <a:sym typeface="Calibri"/>
            </a:endParaRPr>
          </a:p>
        </p:txBody>
      </p:sp>
      <p:pic>
        <p:nvPicPr>
          <p:cNvPr id="130" name="Google Shape;130;p32"/>
          <p:cNvPicPr preferRelativeResize="0"/>
          <p:nvPr/>
        </p:nvPicPr>
        <p:blipFill rotWithShape="1">
          <a:blip r:embed="rId3">
            <a:alphaModFix/>
          </a:blip>
          <a:srcRect b="0" l="0" r="0" t="0"/>
          <a:stretch/>
        </p:blipFill>
        <p:spPr>
          <a:xfrm>
            <a:off x="1143000" y="4900000"/>
            <a:ext cx="8380000" cy="3566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EF"/>
        </a:solidFill>
      </p:bgPr>
    </p:bg>
    <p:spTree>
      <p:nvGrpSpPr>
        <p:cNvPr id="135" name="Shape 135"/>
        <p:cNvGrpSpPr/>
        <p:nvPr/>
      </p:nvGrpSpPr>
      <p:grpSpPr>
        <a:xfrm>
          <a:off x="0" y="0"/>
          <a:ext cx="0" cy="0"/>
          <a:chOff x="0" y="0"/>
          <a:chExt cx="0" cy="0"/>
        </a:xfrm>
      </p:grpSpPr>
      <p:sp>
        <p:nvSpPr>
          <p:cNvPr id="136" name="Google Shape;136;p35"/>
          <p:cNvSpPr/>
          <p:nvPr/>
        </p:nvSpPr>
        <p:spPr>
          <a:xfrm>
            <a:off x="1143000" y="838200"/>
            <a:ext cx="17602200" cy="696416"/>
          </a:xfrm>
          <a:prstGeom prst="rect">
            <a:avLst/>
          </a:prstGeom>
          <a:noFill/>
          <a:ln>
            <a:noFill/>
          </a:ln>
        </p:spPr>
        <p:txBody>
          <a:bodyPr anchorCtr="0" anchor="t" bIns="25400" lIns="25400" spcFirstLastPara="1" rIns="25400" wrap="square" tIns="25400">
            <a:normAutofit/>
          </a:bodyPr>
          <a:lstStyle/>
          <a:p>
            <a:pPr indent="0" lvl="0" marL="0" marR="0" rtl="0" algn="l">
              <a:lnSpc>
                <a:spcPct val="108000"/>
              </a:lnSpc>
              <a:spcBef>
                <a:spcPts val="0"/>
              </a:spcBef>
              <a:spcAft>
                <a:spcPts val="0"/>
              </a:spcAft>
              <a:buClr>
                <a:srgbClr val="2F4156"/>
              </a:buClr>
              <a:buSzPts val="4800"/>
              <a:buFont typeface="Arial"/>
              <a:buNone/>
            </a:pPr>
            <a:r>
              <a:rPr b="1" i="0" lang="en-US" sz="4800" u="none" cap="none" strike="noStrike">
                <a:solidFill>
                  <a:srgbClr val="2F4156"/>
                </a:solidFill>
                <a:latin typeface="Arial"/>
                <a:ea typeface="Arial"/>
                <a:cs typeface="Arial"/>
                <a:sym typeface="Arial"/>
              </a:rPr>
              <a:t>What Changes for the Retention Team</a:t>
            </a:r>
            <a:endParaRPr b="0" i="0" sz="4800" u="none" cap="none" strike="noStrike">
              <a:solidFill>
                <a:schemeClr val="dk1"/>
              </a:solidFill>
              <a:latin typeface="Calibri"/>
              <a:ea typeface="Calibri"/>
              <a:cs typeface="Calibri"/>
              <a:sym typeface="Calibri"/>
            </a:endParaRPr>
          </a:p>
        </p:txBody>
      </p:sp>
      <p:sp>
        <p:nvSpPr>
          <p:cNvPr id="137" name="Google Shape;137;p35"/>
          <p:cNvSpPr/>
          <p:nvPr/>
        </p:nvSpPr>
        <p:spPr>
          <a:xfrm>
            <a:off x="1143000" y="1915617"/>
            <a:ext cx="609600" cy="38100"/>
          </a:xfrm>
          <a:prstGeom prst="roundRect">
            <a:avLst>
              <a:gd fmla="val 50000" name="adj"/>
            </a:avLst>
          </a:prstGeom>
          <a:solidFill>
            <a:srgbClr val="659B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35"/>
          <p:cNvSpPr/>
          <p:nvPr/>
        </p:nvSpPr>
        <p:spPr>
          <a:xfrm>
            <a:off x="8782050" y="3052017"/>
            <a:ext cx="723900" cy="723900"/>
          </a:xfrm>
          <a:prstGeom prst="ellipse">
            <a:avLst/>
          </a:prstGeom>
          <a:solidFill>
            <a:srgbClr val="FFFCEF"/>
          </a:solidFill>
          <a:ln cap="flat" cmpd="sng" w="19050">
            <a:solidFill>
              <a:srgbClr val="659BB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9" name="Google Shape;139;p35"/>
          <p:cNvPicPr preferRelativeResize="0"/>
          <p:nvPr/>
        </p:nvPicPr>
        <p:blipFill rotWithShape="1">
          <a:blip r:embed="rId3">
            <a:alphaModFix/>
          </a:blip>
          <a:srcRect b="0" l="0" r="0" t="0"/>
          <a:stretch/>
        </p:blipFill>
        <p:spPr>
          <a:xfrm>
            <a:off x="8982075" y="3252042"/>
            <a:ext cx="323850" cy="323850"/>
          </a:xfrm>
          <a:prstGeom prst="rect">
            <a:avLst/>
          </a:prstGeom>
          <a:noFill/>
          <a:ln>
            <a:noFill/>
          </a:ln>
        </p:spPr>
      </p:pic>
      <p:sp>
        <p:nvSpPr>
          <p:cNvPr id="140" name="Google Shape;140;p35"/>
          <p:cNvSpPr/>
          <p:nvPr/>
        </p:nvSpPr>
        <p:spPr>
          <a:xfrm>
            <a:off x="1143000" y="3223467"/>
            <a:ext cx="1521600" cy="431700"/>
          </a:xfrm>
          <a:prstGeom prst="roundRect">
            <a:avLst>
              <a:gd fmla="val 44118" name="adj"/>
            </a:avLst>
          </a:prstGeom>
          <a:noFill/>
          <a:ln cap="flat" cmpd="sng" w="9525">
            <a:solidFill>
              <a:srgbClr val="659BB9">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35"/>
          <p:cNvSpPr/>
          <p:nvPr/>
        </p:nvSpPr>
        <p:spPr>
          <a:xfrm>
            <a:off x="1358900" y="3306017"/>
            <a:ext cx="1166100" cy="3048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7A8E9E"/>
              </a:buClr>
              <a:buSzPts val="1800"/>
              <a:buFont typeface="Arial"/>
              <a:buNone/>
            </a:pPr>
            <a:r>
              <a:rPr b="1" i="0" lang="en-US" sz="1800" u="none" cap="none" strike="noStrike">
                <a:solidFill>
                  <a:srgbClr val="7A8E9E"/>
                </a:solidFill>
                <a:latin typeface="Arial"/>
                <a:ea typeface="Arial"/>
                <a:cs typeface="Arial"/>
                <a:sym typeface="Arial"/>
              </a:rPr>
              <a:t>BEFORE</a:t>
            </a:r>
            <a:endParaRPr b="0" i="0" sz="1800" u="none" cap="none" strike="noStrike">
              <a:solidFill>
                <a:schemeClr val="dk1"/>
              </a:solidFill>
              <a:latin typeface="Calibri"/>
              <a:ea typeface="Calibri"/>
              <a:cs typeface="Calibri"/>
              <a:sym typeface="Calibri"/>
            </a:endParaRPr>
          </a:p>
        </p:txBody>
      </p:sp>
      <p:pic>
        <p:nvPicPr>
          <p:cNvPr descr="preencoded.png" id="142" name="Google Shape;142;p35"/>
          <p:cNvPicPr preferRelativeResize="0"/>
          <p:nvPr/>
        </p:nvPicPr>
        <p:blipFill rotWithShape="1">
          <a:blip r:embed="rId4">
            <a:alphaModFix/>
          </a:blip>
          <a:srcRect b="0" l="0" r="0" t="0"/>
          <a:stretch/>
        </p:blipFill>
        <p:spPr>
          <a:xfrm>
            <a:off x="1143000" y="3979117"/>
            <a:ext cx="247650" cy="247650"/>
          </a:xfrm>
          <a:prstGeom prst="rect">
            <a:avLst/>
          </a:prstGeom>
          <a:noFill/>
          <a:ln>
            <a:noFill/>
          </a:ln>
        </p:spPr>
      </p:pic>
      <p:sp>
        <p:nvSpPr>
          <p:cNvPr id="143" name="Google Shape;143;p35"/>
          <p:cNvSpPr/>
          <p:nvPr/>
        </p:nvSpPr>
        <p:spPr>
          <a:xfrm>
            <a:off x="1543050" y="3960067"/>
            <a:ext cx="7240200" cy="8382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4A5A6A"/>
              </a:buClr>
              <a:buSzPts val="2100"/>
              <a:buFont typeface="Arial"/>
              <a:buNone/>
            </a:pPr>
            <a:r>
              <a:rPr b="0" i="0" lang="en-US" sz="2100" u="none" cap="none" strike="noStrike">
                <a:solidFill>
                  <a:srgbClr val="4A5A6A"/>
                </a:solidFill>
                <a:latin typeface="Arial"/>
                <a:ea typeface="Arial"/>
                <a:cs typeface="Arial"/>
                <a:sym typeface="Arial"/>
              </a:rPr>
              <a:t>A regular customer is noticed as missing only once they are long gone</a:t>
            </a:r>
            <a:endParaRPr b="0" i="0" sz="2100" u="none" cap="none" strike="noStrike">
              <a:solidFill>
                <a:schemeClr val="dk1"/>
              </a:solidFill>
              <a:latin typeface="Calibri"/>
              <a:ea typeface="Calibri"/>
              <a:cs typeface="Calibri"/>
              <a:sym typeface="Calibri"/>
            </a:endParaRPr>
          </a:p>
        </p:txBody>
      </p:sp>
      <p:pic>
        <p:nvPicPr>
          <p:cNvPr descr="preencoded.png" id="144" name="Google Shape;144;p35"/>
          <p:cNvPicPr preferRelativeResize="0"/>
          <p:nvPr/>
        </p:nvPicPr>
        <p:blipFill rotWithShape="1">
          <a:blip r:embed="rId4">
            <a:alphaModFix/>
          </a:blip>
          <a:srcRect b="0" l="0" r="0" t="0"/>
          <a:stretch/>
        </p:blipFill>
        <p:spPr>
          <a:xfrm>
            <a:off x="1143000" y="4969717"/>
            <a:ext cx="247650" cy="247650"/>
          </a:xfrm>
          <a:prstGeom prst="rect">
            <a:avLst/>
          </a:prstGeom>
          <a:noFill/>
          <a:ln>
            <a:noFill/>
          </a:ln>
        </p:spPr>
      </p:pic>
      <p:sp>
        <p:nvSpPr>
          <p:cNvPr id="145" name="Google Shape;145;p35"/>
          <p:cNvSpPr/>
          <p:nvPr/>
        </p:nvSpPr>
        <p:spPr>
          <a:xfrm>
            <a:off x="1543050" y="4950667"/>
            <a:ext cx="7240200" cy="438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4A5A6A"/>
              </a:buClr>
              <a:buSzPts val="2100"/>
              <a:buFont typeface="Arial"/>
              <a:buNone/>
            </a:pPr>
            <a:r>
              <a:rPr b="0" i="0" lang="en-US" sz="2100" u="none" cap="none" strike="noStrike">
                <a:solidFill>
                  <a:srgbClr val="4A5A6A"/>
                </a:solidFill>
                <a:latin typeface="Arial"/>
                <a:ea typeface="Arial"/>
                <a:cs typeface="Arial"/>
                <a:sym typeface="Arial"/>
              </a:rPr>
              <a:t>Offers go to whoever is easiest to reach, or to the entire base at once</a:t>
            </a:r>
            <a:endParaRPr b="0" i="0" sz="2100" u="none" cap="none" strike="noStrike">
              <a:solidFill>
                <a:schemeClr val="dk1"/>
              </a:solidFill>
              <a:latin typeface="Calibri"/>
              <a:ea typeface="Calibri"/>
              <a:cs typeface="Calibri"/>
              <a:sym typeface="Calibri"/>
            </a:endParaRPr>
          </a:p>
        </p:txBody>
      </p:sp>
      <p:pic>
        <p:nvPicPr>
          <p:cNvPr descr="preencoded.png" id="146" name="Google Shape;146;p35"/>
          <p:cNvPicPr preferRelativeResize="0"/>
          <p:nvPr/>
        </p:nvPicPr>
        <p:blipFill rotWithShape="1">
          <a:blip r:embed="rId4">
            <a:alphaModFix/>
          </a:blip>
          <a:srcRect b="0" l="0" r="0" t="0"/>
          <a:stretch/>
        </p:blipFill>
        <p:spPr>
          <a:xfrm>
            <a:off x="1143000" y="5560267"/>
            <a:ext cx="247650" cy="247650"/>
          </a:xfrm>
          <a:prstGeom prst="rect">
            <a:avLst/>
          </a:prstGeom>
          <a:noFill/>
          <a:ln>
            <a:noFill/>
          </a:ln>
        </p:spPr>
      </p:pic>
      <p:sp>
        <p:nvSpPr>
          <p:cNvPr id="147" name="Google Shape;147;p35"/>
          <p:cNvSpPr/>
          <p:nvPr/>
        </p:nvSpPr>
        <p:spPr>
          <a:xfrm>
            <a:off x="1543050" y="6018295"/>
            <a:ext cx="6359100" cy="438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4A5A6A"/>
              </a:buClr>
              <a:buSzPts val="2100"/>
              <a:buFont typeface="Arial"/>
              <a:buNone/>
            </a:pPr>
            <a:r>
              <a:rPr b="0" i="0" lang="en-US" sz="2100" u="none" cap="none" strike="noStrike">
                <a:solidFill>
                  <a:srgbClr val="4A5A6A"/>
                </a:solidFill>
                <a:latin typeface="Arial"/>
                <a:ea typeface="Arial"/>
                <a:cs typeface="Arial"/>
                <a:sym typeface="Arial"/>
              </a:rPr>
              <a:t>No way to tell an ordinary quiet month from a lost relationship</a:t>
            </a:r>
            <a:endParaRPr b="0" i="0" sz="2100" u="none" cap="none" strike="noStrike">
              <a:solidFill>
                <a:schemeClr val="dk1"/>
              </a:solidFill>
              <a:latin typeface="Calibri"/>
              <a:ea typeface="Calibri"/>
              <a:cs typeface="Calibri"/>
              <a:sym typeface="Calibri"/>
            </a:endParaRPr>
          </a:p>
        </p:txBody>
      </p:sp>
      <p:sp>
        <p:nvSpPr>
          <p:cNvPr id="148" name="Google Shape;148;p35"/>
          <p:cNvSpPr/>
          <p:nvPr/>
        </p:nvSpPr>
        <p:spPr>
          <a:xfrm>
            <a:off x="9715500" y="3223467"/>
            <a:ext cx="1046400" cy="419100"/>
          </a:xfrm>
          <a:prstGeom prst="roundRect">
            <a:avLst>
              <a:gd fmla="val 45455" name="adj"/>
            </a:avLst>
          </a:prstGeom>
          <a:solidFill>
            <a:srgbClr val="659B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35"/>
          <p:cNvSpPr/>
          <p:nvPr/>
        </p:nvSpPr>
        <p:spPr>
          <a:xfrm>
            <a:off x="9925050" y="3299667"/>
            <a:ext cx="703500" cy="3048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NOW</a:t>
            </a:r>
            <a:endParaRPr b="0" i="0" sz="1800" u="none" cap="none" strike="noStrike">
              <a:solidFill>
                <a:schemeClr val="dk1"/>
              </a:solidFill>
              <a:latin typeface="Calibri"/>
              <a:ea typeface="Calibri"/>
              <a:cs typeface="Calibri"/>
              <a:sym typeface="Calibri"/>
            </a:endParaRPr>
          </a:p>
        </p:txBody>
      </p:sp>
      <p:pic>
        <p:nvPicPr>
          <p:cNvPr descr="preencoded.png" id="150" name="Google Shape;150;p35"/>
          <p:cNvPicPr preferRelativeResize="0"/>
          <p:nvPr/>
        </p:nvPicPr>
        <p:blipFill rotWithShape="1">
          <a:blip r:embed="rId5">
            <a:alphaModFix/>
          </a:blip>
          <a:srcRect b="0" l="0" r="0" t="0"/>
          <a:stretch/>
        </p:blipFill>
        <p:spPr>
          <a:xfrm>
            <a:off x="9715500" y="3966417"/>
            <a:ext cx="247650" cy="247650"/>
          </a:xfrm>
          <a:prstGeom prst="rect">
            <a:avLst/>
          </a:prstGeom>
          <a:noFill/>
          <a:ln>
            <a:noFill/>
          </a:ln>
        </p:spPr>
      </p:pic>
      <p:sp>
        <p:nvSpPr>
          <p:cNvPr id="151" name="Google Shape;151;p35"/>
          <p:cNvSpPr/>
          <p:nvPr/>
        </p:nvSpPr>
        <p:spPr>
          <a:xfrm>
            <a:off x="10115550" y="3947367"/>
            <a:ext cx="7240200" cy="8382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4A5A6A"/>
              </a:buClr>
              <a:buSzPts val="2100"/>
              <a:buFont typeface="Arial"/>
              <a:buNone/>
            </a:pPr>
            <a:r>
              <a:rPr b="0" i="0" lang="en-US" sz="2100" u="none" cap="none" strike="noStrike">
                <a:solidFill>
                  <a:srgbClr val="4A5A6A"/>
                </a:solidFill>
                <a:latin typeface="Arial"/>
                <a:ea typeface="Arial"/>
                <a:cs typeface="Arial"/>
                <a:sym typeface="Arial"/>
              </a:rPr>
              <a:t>Households ranked by risk of leaving, four weeks ahead</a:t>
            </a:r>
            <a:endParaRPr b="0" i="0" sz="2100" u="none" cap="none" strike="noStrike">
              <a:solidFill>
                <a:schemeClr val="dk1"/>
              </a:solidFill>
              <a:latin typeface="Calibri"/>
              <a:ea typeface="Calibri"/>
              <a:cs typeface="Calibri"/>
              <a:sym typeface="Calibri"/>
            </a:endParaRPr>
          </a:p>
        </p:txBody>
      </p:sp>
      <p:pic>
        <p:nvPicPr>
          <p:cNvPr descr="preencoded.png" id="152" name="Google Shape;152;p35"/>
          <p:cNvPicPr preferRelativeResize="0"/>
          <p:nvPr/>
        </p:nvPicPr>
        <p:blipFill rotWithShape="1">
          <a:blip r:embed="rId5">
            <a:alphaModFix/>
          </a:blip>
          <a:srcRect b="0" l="0" r="0" t="0"/>
          <a:stretch/>
        </p:blipFill>
        <p:spPr>
          <a:xfrm>
            <a:off x="9715500" y="4957017"/>
            <a:ext cx="247650" cy="247650"/>
          </a:xfrm>
          <a:prstGeom prst="rect">
            <a:avLst/>
          </a:prstGeom>
          <a:noFill/>
          <a:ln>
            <a:noFill/>
          </a:ln>
        </p:spPr>
      </p:pic>
      <p:sp>
        <p:nvSpPr>
          <p:cNvPr id="153" name="Google Shape;153;p35"/>
          <p:cNvSpPr/>
          <p:nvPr/>
        </p:nvSpPr>
        <p:spPr>
          <a:xfrm>
            <a:off x="10115550" y="4937967"/>
            <a:ext cx="6849000" cy="438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4A5A6A"/>
              </a:buClr>
              <a:buSzPts val="2100"/>
              <a:buFont typeface="Arial"/>
              <a:buNone/>
            </a:pPr>
            <a:r>
              <a:rPr b="0" i="0" lang="en-US" sz="2100" u="none" cap="none" strike="noStrike">
                <a:solidFill>
                  <a:srgbClr val="4A5A6A"/>
                </a:solidFill>
                <a:latin typeface="Arial"/>
                <a:ea typeface="Arial"/>
                <a:cs typeface="Arial"/>
                <a:sym typeface="Arial"/>
              </a:rPr>
              <a:t>Retention budget aimed at the fifty names most likely to leave</a:t>
            </a:r>
            <a:endParaRPr b="0" i="0" sz="2100" u="none" cap="none" strike="noStrike">
              <a:solidFill>
                <a:schemeClr val="dk1"/>
              </a:solidFill>
              <a:latin typeface="Calibri"/>
              <a:ea typeface="Calibri"/>
              <a:cs typeface="Calibri"/>
              <a:sym typeface="Calibri"/>
            </a:endParaRPr>
          </a:p>
        </p:txBody>
      </p:sp>
      <p:pic>
        <p:nvPicPr>
          <p:cNvPr descr="preencoded.png" id="154" name="Google Shape;154;p35"/>
          <p:cNvPicPr preferRelativeResize="0"/>
          <p:nvPr/>
        </p:nvPicPr>
        <p:blipFill rotWithShape="1">
          <a:blip r:embed="rId5">
            <a:alphaModFix/>
          </a:blip>
          <a:srcRect b="0" l="0" r="0" t="0"/>
          <a:stretch/>
        </p:blipFill>
        <p:spPr>
          <a:xfrm>
            <a:off x="9715500" y="6024645"/>
            <a:ext cx="247650" cy="247650"/>
          </a:xfrm>
          <a:prstGeom prst="rect">
            <a:avLst/>
          </a:prstGeom>
          <a:noFill/>
          <a:ln>
            <a:noFill/>
          </a:ln>
        </p:spPr>
      </p:pic>
      <p:sp>
        <p:nvSpPr>
          <p:cNvPr id="155" name="Google Shape;155;p35"/>
          <p:cNvSpPr/>
          <p:nvPr/>
        </p:nvSpPr>
        <p:spPr>
          <a:xfrm>
            <a:off x="10115550" y="6005595"/>
            <a:ext cx="6914400" cy="438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4A5A6A"/>
              </a:buClr>
              <a:buSzPts val="2100"/>
              <a:buFont typeface="Arial"/>
              <a:buNone/>
            </a:pPr>
            <a:r>
              <a:rPr b="0" i="0" lang="en-US" sz="2100" u="none" cap="none" strike="noStrike">
                <a:solidFill>
                  <a:srgbClr val="4A5A6A"/>
                </a:solidFill>
                <a:latin typeface="Arial"/>
                <a:ea typeface="Arial"/>
                <a:cs typeface="Arial"/>
                <a:sym typeface="Arial"/>
              </a:rPr>
              <a:t>A measured hit rate the team can track and improve every cycle</a:t>
            </a:r>
            <a:endParaRPr b="0" i="0" sz="2100" u="none" cap="none" strike="noStrike">
              <a:solidFill>
                <a:schemeClr val="dk1"/>
              </a:solidFill>
              <a:latin typeface="Calibri"/>
              <a:ea typeface="Calibri"/>
              <a:cs typeface="Calibri"/>
              <a:sym typeface="Calibri"/>
            </a:endParaRPr>
          </a:p>
        </p:txBody>
      </p:sp>
      <p:sp>
        <p:nvSpPr>
          <p:cNvPr id="156" name="Google Shape;156;p35"/>
          <p:cNvSpPr/>
          <p:nvPr/>
        </p:nvSpPr>
        <p:spPr>
          <a:xfrm>
            <a:off x="1143000" y="7190284"/>
            <a:ext cx="16002000" cy="9525"/>
          </a:xfrm>
          <a:prstGeom prst="rect">
            <a:avLst/>
          </a:prstGeom>
          <a:solidFill>
            <a:srgbClr val="659BB9">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35"/>
          <p:cNvSpPr/>
          <p:nvPr/>
        </p:nvSpPr>
        <p:spPr>
          <a:xfrm>
            <a:off x="1143000" y="7539534"/>
            <a:ext cx="2208024" cy="3048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7A8E9E"/>
              </a:buClr>
              <a:buSzPts val="1800"/>
              <a:buFont typeface="Arial"/>
              <a:buNone/>
            </a:pPr>
            <a:r>
              <a:rPr b="1" i="0" lang="en-US" sz="1800" u="none" cap="none" strike="noStrike">
                <a:solidFill>
                  <a:srgbClr val="7A8E9E"/>
                </a:solidFill>
                <a:latin typeface="Arial"/>
                <a:ea typeface="Arial"/>
                <a:cs typeface="Arial"/>
                <a:sym typeface="Arial"/>
              </a:rPr>
              <a:t>Warning time</a:t>
            </a:r>
            <a:endParaRPr b="0" i="0" sz="1800" u="none" cap="none" strike="noStrike">
              <a:solidFill>
                <a:schemeClr val="dk1"/>
              </a:solidFill>
              <a:latin typeface="Calibri"/>
              <a:ea typeface="Calibri"/>
              <a:cs typeface="Calibri"/>
              <a:sym typeface="Calibri"/>
            </a:endParaRPr>
          </a:p>
        </p:txBody>
      </p:sp>
      <p:sp>
        <p:nvSpPr>
          <p:cNvPr id="158" name="Google Shape;158;p35"/>
          <p:cNvSpPr/>
          <p:nvPr/>
        </p:nvSpPr>
        <p:spPr>
          <a:xfrm>
            <a:off x="4308872" y="7539534"/>
            <a:ext cx="2049661" cy="3048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2F4156"/>
              </a:buClr>
              <a:buSzPts val="1800"/>
              <a:buFont typeface="Arial"/>
              <a:buNone/>
            </a:pPr>
            <a:r>
              <a:rPr b="1" i="0" lang="en-US" sz="1800" u="none" cap="none" strike="noStrike">
                <a:solidFill>
                  <a:srgbClr val="2F4156"/>
                </a:solidFill>
                <a:latin typeface="Arial"/>
                <a:ea typeface="Arial"/>
                <a:cs typeface="Arial"/>
                <a:sym typeface="Arial"/>
              </a:rPr>
              <a:t>None → 4 weeks</a:t>
            </a:r>
            <a:endParaRPr b="0" i="0" sz="1800" u="none" cap="none" strike="noStrike">
              <a:solidFill>
                <a:schemeClr val="dk1"/>
              </a:solidFill>
              <a:latin typeface="Calibri"/>
              <a:ea typeface="Calibri"/>
              <a:cs typeface="Calibri"/>
              <a:sym typeface="Calibri"/>
            </a:endParaRPr>
          </a:p>
        </p:txBody>
      </p:sp>
      <p:sp>
        <p:nvSpPr>
          <p:cNvPr id="159" name="Google Shape;159;p35"/>
          <p:cNvSpPr/>
          <p:nvPr/>
        </p:nvSpPr>
        <p:spPr>
          <a:xfrm>
            <a:off x="1143000" y="7901484"/>
            <a:ext cx="891480" cy="133350"/>
          </a:xfrm>
          <a:prstGeom prst="roundRect">
            <a:avLst>
              <a:gd fmla="val 28571" name="adj"/>
            </a:avLst>
          </a:prstGeom>
          <a:solidFill>
            <a:srgbClr val="659BB9">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35"/>
          <p:cNvSpPr/>
          <p:nvPr/>
        </p:nvSpPr>
        <p:spPr>
          <a:xfrm>
            <a:off x="2110680" y="7901484"/>
            <a:ext cx="4061520" cy="133350"/>
          </a:xfrm>
          <a:prstGeom prst="roundRect">
            <a:avLst>
              <a:gd fmla="val 28571" name="adj"/>
            </a:avLst>
          </a:prstGeom>
          <a:solidFill>
            <a:srgbClr val="659B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35"/>
          <p:cNvSpPr/>
          <p:nvPr/>
        </p:nvSpPr>
        <p:spPr>
          <a:xfrm>
            <a:off x="6629400" y="7539534"/>
            <a:ext cx="2026741" cy="3048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7A8E9E"/>
              </a:buClr>
              <a:buSzPts val="1800"/>
              <a:buFont typeface="Arial"/>
              <a:buNone/>
            </a:pPr>
            <a:r>
              <a:rPr b="1" i="0" lang="en-US" sz="1800" u="none" cap="none" strike="noStrike">
                <a:solidFill>
                  <a:srgbClr val="7A8E9E"/>
                </a:solidFill>
                <a:latin typeface="Arial"/>
                <a:ea typeface="Arial"/>
                <a:cs typeface="Arial"/>
                <a:sym typeface="Arial"/>
              </a:rPr>
              <a:t>Hit rate</a:t>
            </a:r>
            <a:endParaRPr b="0" i="0" sz="1800" u="none" cap="none" strike="noStrike">
              <a:solidFill>
                <a:schemeClr val="dk1"/>
              </a:solidFill>
              <a:latin typeface="Calibri"/>
              <a:ea typeface="Calibri"/>
              <a:cs typeface="Calibri"/>
              <a:sym typeface="Calibri"/>
            </a:endParaRPr>
          </a:p>
        </p:txBody>
      </p:sp>
      <p:sp>
        <p:nvSpPr>
          <p:cNvPr id="162" name="Google Shape;162;p35"/>
          <p:cNvSpPr/>
          <p:nvPr/>
        </p:nvSpPr>
        <p:spPr>
          <a:xfrm>
            <a:off x="9091514" y="7539534"/>
            <a:ext cx="2823796" cy="3048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2F4156"/>
              </a:buClr>
              <a:buSzPts val="1800"/>
              <a:buFont typeface="Arial"/>
              <a:buNone/>
            </a:pPr>
            <a:r>
              <a:rPr b="1" i="0" lang="en-US" sz="1800" u="none" cap="none" strike="noStrike">
                <a:solidFill>
                  <a:srgbClr val="2F4156"/>
                </a:solidFill>
                <a:latin typeface="Arial"/>
                <a:ea typeface="Arial"/>
                <a:cs typeface="Arial"/>
                <a:sym typeface="Arial"/>
              </a:rPr>
              <a:t>16% → 74%</a:t>
            </a:r>
            <a:endParaRPr b="0" i="0" sz="1800" u="none" cap="none" strike="noStrike">
              <a:solidFill>
                <a:schemeClr val="dk1"/>
              </a:solidFill>
              <a:latin typeface="Calibri"/>
              <a:ea typeface="Calibri"/>
              <a:cs typeface="Calibri"/>
              <a:sym typeface="Calibri"/>
            </a:endParaRPr>
          </a:p>
        </p:txBody>
      </p:sp>
      <p:sp>
        <p:nvSpPr>
          <p:cNvPr id="163" name="Google Shape;163;p35"/>
          <p:cNvSpPr/>
          <p:nvPr/>
        </p:nvSpPr>
        <p:spPr>
          <a:xfrm>
            <a:off x="6629400" y="7901484"/>
            <a:ext cx="594320" cy="133350"/>
          </a:xfrm>
          <a:prstGeom prst="roundRect">
            <a:avLst>
              <a:gd fmla="val 28571" name="adj"/>
            </a:avLst>
          </a:prstGeom>
          <a:solidFill>
            <a:srgbClr val="659BB9">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35"/>
          <p:cNvSpPr/>
          <p:nvPr/>
        </p:nvSpPr>
        <p:spPr>
          <a:xfrm>
            <a:off x="7299921" y="7901484"/>
            <a:ext cx="4358680" cy="133350"/>
          </a:xfrm>
          <a:prstGeom prst="roundRect">
            <a:avLst>
              <a:gd fmla="val 28571" name="adj"/>
            </a:avLst>
          </a:prstGeom>
          <a:solidFill>
            <a:srgbClr val="659B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35"/>
          <p:cNvSpPr/>
          <p:nvPr/>
        </p:nvSpPr>
        <p:spPr>
          <a:xfrm>
            <a:off x="12115800" y="7539534"/>
            <a:ext cx="1118096" cy="3048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7A8E9E"/>
              </a:buClr>
              <a:buSzPts val="1800"/>
              <a:buFont typeface="Arial"/>
              <a:buNone/>
            </a:pPr>
            <a:r>
              <a:rPr b="1" i="0" lang="en-US" sz="1800" u="none" cap="none" strike="noStrike">
                <a:solidFill>
                  <a:srgbClr val="7A8E9E"/>
                </a:solidFill>
                <a:latin typeface="Arial"/>
                <a:ea typeface="Arial"/>
                <a:cs typeface="Arial"/>
                <a:sym typeface="Arial"/>
              </a:rPr>
              <a:t>Names to work</a:t>
            </a:r>
            <a:endParaRPr b="0" i="0" sz="1800" u="none" cap="none" strike="noStrike">
              <a:solidFill>
                <a:schemeClr val="dk1"/>
              </a:solidFill>
              <a:latin typeface="Calibri"/>
              <a:ea typeface="Calibri"/>
              <a:cs typeface="Calibri"/>
              <a:sym typeface="Calibri"/>
            </a:endParaRPr>
          </a:p>
        </p:txBody>
      </p:sp>
      <p:sp>
        <p:nvSpPr>
          <p:cNvPr id="166" name="Google Shape;166;p35"/>
          <p:cNvSpPr/>
          <p:nvPr/>
        </p:nvSpPr>
        <p:spPr>
          <a:xfrm>
            <a:off x="15937905" y="7539534"/>
            <a:ext cx="1327805" cy="3048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2F4156"/>
              </a:buClr>
              <a:buSzPts val="1800"/>
              <a:buFont typeface="Arial"/>
              <a:buNone/>
            </a:pPr>
            <a:r>
              <a:rPr b="1" i="0" lang="en-US" sz="1800" u="none" cap="none" strike="noStrike">
                <a:solidFill>
                  <a:srgbClr val="2F4156"/>
                </a:solidFill>
                <a:latin typeface="Arial"/>
                <a:ea typeface="Arial"/>
                <a:cs typeface="Arial"/>
                <a:sym typeface="Arial"/>
              </a:rPr>
              <a:t>2,323 → 50</a:t>
            </a:r>
            <a:endParaRPr b="0" i="0" sz="1800" u="none" cap="none" strike="noStrike">
              <a:solidFill>
                <a:schemeClr val="dk1"/>
              </a:solidFill>
              <a:latin typeface="Calibri"/>
              <a:ea typeface="Calibri"/>
              <a:cs typeface="Calibri"/>
              <a:sym typeface="Calibri"/>
            </a:endParaRPr>
          </a:p>
        </p:txBody>
      </p:sp>
      <p:sp>
        <p:nvSpPr>
          <p:cNvPr id="167" name="Google Shape;167;p35"/>
          <p:cNvSpPr/>
          <p:nvPr/>
        </p:nvSpPr>
        <p:spPr>
          <a:xfrm>
            <a:off x="12115800" y="7901484"/>
            <a:ext cx="4023320" cy="133350"/>
          </a:xfrm>
          <a:prstGeom prst="roundRect">
            <a:avLst>
              <a:gd fmla="val 28571" name="adj"/>
            </a:avLst>
          </a:prstGeom>
          <a:solidFill>
            <a:srgbClr val="659BB9">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35"/>
          <p:cNvSpPr/>
          <p:nvPr/>
        </p:nvSpPr>
        <p:spPr>
          <a:xfrm>
            <a:off x="16215321" y="7901484"/>
            <a:ext cx="301724" cy="133350"/>
          </a:xfrm>
          <a:prstGeom prst="roundRect">
            <a:avLst>
              <a:gd fmla="val 28571" name="adj"/>
            </a:avLst>
          </a:prstGeom>
          <a:solidFill>
            <a:srgbClr val="659B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9" name="Google Shape;169;p35"/>
          <p:cNvPicPr preferRelativeResize="0"/>
          <p:nvPr/>
        </p:nvPicPr>
        <p:blipFill rotWithShape="1">
          <a:blip r:embed="rId6">
            <a:alphaModFix amt="55000"/>
          </a:blip>
          <a:srcRect b="0" l="0" r="0" t="0"/>
          <a:stretch/>
        </p:blipFill>
        <p:spPr>
          <a:xfrm>
            <a:off x="16097250" y="8625682"/>
            <a:ext cx="1047750" cy="97551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EF"/>
        </a:solidFill>
      </p:bgPr>
    </p:bg>
    <p:spTree>
      <p:nvGrpSpPr>
        <p:cNvPr id="174" name="Shape 174"/>
        <p:cNvGrpSpPr/>
        <p:nvPr/>
      </p:nvGrpSpPr>
      <p:grpSpPr>
        <a:xfrm>
          <a:off x="0" y="0"/>
          <a:ext cx="0" cy="0"/>
          <a:chOff x="0" y="0"/>
          <a:chExt cx="0" cy="0"/>
        </a:xfrm>
      </p:grpSpPr>
      <p:sp>
        <p:nvSpPr>
          <p:cNvPr id="175" name="Google Shape;175;p36"/>
          <p:cNvSpPr/>
          <p:nvPr/>
        </p:nvSpPr>
        <p:spPr>
          <a:xfrm>
            <a:off x="1143000" y="838200"/>
            <a:ext cx="17602200" cy="696416"/>
          </a:xfrm>
          <a:prstGeom prst="rect">
            <a:avLst/>
          </a:prstGeom>
          <a:noFill/>
          <a:ln>
            <a:noFill/>
          </a:ln>
        </p:spPr>
        <p:txBody>
          <a:bodyPr anchorCtr="0" anchor="t" bIns="25400" lIns="25400" spcFirstLastPara="1" rIns="25400" wrap="square" tIns="25400">
            <a:normAutofit/>
          </a:bodyPr>
          <a:lstStyle/>
          <a:p>
            <a:pPr indent="0" lvl="0" marL="0" marR="0" rtl="0" algn="l">
              <a:lnSpc>
                <a:spcPct val="108000"/>
              </a:lnSpc>
              <a:spcBef>
                <a:spcPts val="0"/>
              </a:spcBef>
              <a:spcAft>
                <a:spcPts val="0"/>
              </a:spcAft>
              <a:buClr>
                <a:srgbClr val="2F4156"/>
              </a:buClr>
              <a:buSzPts val="4800"/>
              <a:buFont typeface="Arial"/>
              <a:buNone/>
            </a:pPr>
            <a:r>
              <a:rPr b="1" i="0" lang="en-US" sz="4800" u="none" cap="none" strike="noStrike">
                <a:solidFill>
                  <a:srgbClr val="2F4156"/>
                </a:solidFill>
                <a:latin typeface="Arial"/>
                <a:ea typeface="Arial"/>
                <a:cs typeface="Arial"/>
                <a:sym typeface="Arial"/>
              </a:rPr>
              <a:t>Recommendation at a Glance</a:t>
            </a:r>
            <a:endParaRPr b="0" i="0" sz="4800" u="none" cap="none" strike="noStrike">
              <a:solidFill>
                <a:schemeClr val="dk1"/>
              </a:solidFill>
              <a:latin typeface="Calibri"/>
              <a:ea typeface="Calibri"/>
              <a:cs typeface="Calibri"/>
              <a:sym typeface="Calibri"/>
            </a:endParaRPr>
          </a:p>
        </p:txBody>
      </p:sp>
      <p:sp>
        <p:nvSpPr>
          <p:cNvPr id="176" name="Google Shape;176;p36"/>
          <p:cNvSpPr/>
          <p:nvPr/>
        </p:nvSpPr>
        <p:spPr>
          <a:xfrm>
            <a:off x="1143000" y="1915617"/>
            <a:ext cx="609600" cy="38100"/>
          </a:xfrm>
          <a:prstGeom prst="roundRect">
            <a:avLst>
              <a:gd fmla="val 50000" name="adj"/>
            </a:avLst>
          </a:prstGeom>
          <a:solidFill>
            <a:srgbClr val="659B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36"/>
          <p:cNvSpPr/>
          <p:nvPr/>
        </p:nvSpPr>
        <p:spPr>
          <a:xfrm>
            <a:off x="1143000" y="2372817"/>
            <a:ext cx="5029200" cy="7228384"/>
          </a:xfrm>
          <a:prstGeom prst="roundRect">
            <a:avLst>
              <a:gd fmla="val 1136" name="adj"/>
            </a:avLst>
          </a:prstGeom>
          <a:solidFill>
            <a:srgbClr val="659B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8" name="Google Shape;178;p36"/>
          <p:cNvPicPr preferRelativeResize="0"/>
          <p:nvPr/>
        </p:nvPicPr>
        <p:blipFill rotWithShape="1">
          <a:blip r:embed="rId3">
            <a:alphaModFix/>
          </a:blip>
          <a:srcRect b="0" l="0" r="0" t="0"/>
          <a:stretch/>
        </p:blipFill>
        <p:spPr>
          <a:xfrm>
            <a:off x="1562100" y="2868117"/>
            <a:ext cx="685800" cy="685800"/>
          </a:xfrm>
          <a:prstGeom prst="rect">
            <a:avLst/>
          </a:prstGeom>
          <a:noFill/>
          <a:ln>
            <a:noFill/>
          </a:ln>
        </p:spPr>
      </p:pic>
      <p:sp>
        <p:nvSpPr>
          <p:cNvPr id="179" name="Google Shape;179;p36"/>
          <p:cNvSpPr/>
          <p:nvPr/>
        </p:nvSpPr>
        <p:spPr>
          <a:xfrm>
            <a:off x="1562100" y="3896817"/>
            <a:ext cx="4610100" cy="3429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FFFFFF"/>
              </a:buClr>
              <a:buSzPts val="2100"/>
              <a:buFont typeface="Arial"/>
              <a:buNone/>
            </a:pPr>
            <a:r>
              <a:rPr b="1" i="0" lang="en-US" sz="2100" u="none" cap="none" strike="noStrike">
                <a:solidFill>
                  <a:srgbClr val="FFFFFF"/>
                </a:solidFill>
                <a:latin typeface="Arial"/>
                <a:ea typeface="Arial"/>
                <a:cs typeface="Arial"/>
                <a:sym typeface="Arial"/>
              </a:rPr>
              <a:t>Action</a:t>
            </a:r>
            <a:endParaRPr b="0" i="0" sz="2100" u="none" cap="none" strike="noStrike">
              <a:solidFill>
                <a:schemeClr val="dk1"/>
              </a:solidFill>
              <a:latin typeface="Calibri"/>
              <a:ea typeface="Calibri"/>
              <a:cs typeface="Calibri"/>
              <a:sym typeface="Calibri"/>
            </a:endParaRPr>
          </a:p>
        </p:txBody>
      </p:sp>
      <p:sp>
        <p:nvSpPr>
          <p:cNvPr id="180" name="Google Shape;180;p36"/>
          <p:cNvSpPr/>
          <p:nvPr/>
        </p:nvSpPr>
        <p:spPr>
          <a:xfrm>
            <a:off x="1562100" y="4354017"/>
            <a:ext cx="4316730" cy="769541"/>
          </a:xfrm>
          <a:prstGeom prst="rect">
            <a:avLst/>
          </a:prstGeom>
          <a:noFill/>
          <a:ln>
            <a:noFill/>
          </a:ln>
        </p:spPr>
        <p:txBody>
          <a:bodyPr anchorCtr="0" anchor="t" bIns="25400" lIns="25400" spcFirstLastPara="1" rIns="25400" wrap="square" tIns="25400">
            <a:normAutofit/>
          </a:bodyPr>
          <a:lstStyle/>
          <a:p>
            <a:pPr indent="0" lvl="0" marL="0" marR="0" rtl="0" algn="l">
              <a:lnSpc>
                <a:spcPct val="16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Score the customer base weekly and hand the fifty highest-risk households to the retention team as a standing worklist.</a:t>
            </a:r>
            <a:endParaRPr b="0" i="0" sz="1800" u="none" cap="none" strike="noStrike">
              <a:solidFill>
                <a:schemeClr val="dk1"/>
              </a:solidFill>
              <a:latin typeface="Calibri"/>
              <a:ea typeface="Calibri"/>
              <a:cs typeface="Calibri"/>
              <a:sym typeface="Calibri"/>
            </a:endParaRPr>
          </a:p>
        </p:txBody>
      </p:sp>
      <p:sp>
        <p:nvSpPr>
          <p:cNvPr id="181" name="Google Shape;181;p36"/>
          <p:cNvSpPr/>
          <p:nvPr/>
        </p:nvSpPr>
        <p:spPr>
          <a:xfrm>
            <a:off x="6629400" y="2372817"/>
            <a:ext cx="5029200" cy="7228384"/>
          </a:xfrm>
          <a:prstGeom prst="roundRect">
            <a:avLst>
              <a:gd fmla="val 1136" name="adj"/>
            </a:avLst>
          </a:prstGeom>
          <a:solidFill>
            <a:srgbClr val="659BB9">
              <a:alpha val="1215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82" name="Google Shape;182;p36"/>
          <p:cNvPicPr preferRelativeResize="0"/>
          <p:nvPr/>
        </p:nvPicPr>
        <p:blipFill rotWithShape="1">
          <a:blip r:embed="rId4">
            <a:alphaModFix/>
          </a:blip>
          <a:srcRect b="0" l="0" r="0" t="0"/>
          <a:stretch/>
        </p:blipFill>
        <p:spPr>
          <a:xfrm>
            <a:off x="7048500" y="2868117"/>
            <a:ext cx="685800" cy="685800"/>
          </a:xfrm>
          <a:prstGeom prst="rect">
            <a:avLst/>
          </a:prstGeom>
          <a:noFill/>
          <a:ln>
            <a:noFill/>
          </a:ln>
        </p:spPr>
      </p:pic>
      <p:sp>
        <p:nvSpPr>
          <p:cNvPr id="183" name="Google Shape;183;p36"/>
          <p:cNvSpPr/>
          <p:nvPr/>
        </p:nvSpPr>
        <p:spPr>
          <a:xfrm>
            <a:off x="7048500" y="3896817"/>
            <a:ext cx="4610100" cy="3429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2F4156"/>
              </a:buClr>
              <a:buSzPts val="2100"/>
              <a:buFont typeface="Arial"/>
              <a:buNone/>
            </a:pPr>
            <a:r>
              <a:rPr b="1" i="0" lang="en-US" sz="2100" u="none" cap="none" strike="noStrike">
                <a:solidFill>
                  <a:srgbClr val="2F4156"/>
                </a:solidFill>
                <a:latin typeface="Arial"/>
                <a:ea typeface="Arial"/>
                <a:cs typeface="Arial"/>
                <a:sym typeface="Arial"/>
              </a:rPr>
              <a:t>Benefits</a:t>
            </a:r>
            <a:endParaRPr b="0" i="0" sz="2100" u="none" cap="none" strike="noStrike">
              <a:solidFill>
                <a:schemeClr val="dk1"/>
              </a:solidFill>
              <a:latin typeface="Calibri"/>
              <a:ea typeface="Calibri"/>
              <a:cs typeface="Calibri"/>
              <a:sym typeface="Calibri"/>
            </a:endParaRPr>
          </a:p>
        </p:txBody>
      </p:sp>
      <p:sp>
        <p:nvSpPr>
          <p:cNvPr id="184" name="Google Shape;184;p36"/>
          <p:cNvSpPr/>
          <p:nvPr/>
        </p:nvSpPr>
        <p:spPr>
          <a:xfrm>
            <a:off x="7048500" y="4354017"/>
            <a:ext cx="4316730" cy="1135261"/>
          </a:xfrm>
          <a:prstGeom prst="rect">
            <a:avLst/>
          </a:prstGeom>
          <a:noFill/>
          <a:ln>
            <a:noFill/>
          </a:ln>
        </p:spPr>
        <p:txBody>
          <a:bodyPr anchorCtr="0" anchor="t" bIns="25400" lIns="25400" spcFirstLastPara="1" rIns="25400" wrap="square" tIns="25400">
            <a:normAutofit/>
          </a:bodyPr>
          <a:lstStyle/>
          <a:p>
            <a:pPr indent="0" lvl="0" marL="0" marR="0" rtl="0" algn="l">
              <a:lnSpc>
                <a:spcPct val="160000"/>
              </a:lnSpc>
              <a:spcBef>
                <a:spcPts val="0"/>
              </a:spcBef>
              <a:spcAft>
                <a:spcPts val="0"/>
              </a:spcAft>
              <a:buClr>
                <a:srgbClr val="4A5A6A"/>
              </a:buClr>
              <a:buSzPts val="1800"/>
              <a:buFont typeface="Arial"/>
              <a:buNone/>
            </a:pPr>
            <a:r>
              <a:rPr b="0" i="0" lang="en-US" sz="1800" u="none" cap="none" strike="noStrike">
                <a:solidFill>
                  <a:srgbClr val="4A5A6A"/>
                </a:solidFill>
                <a:latin typeface="Arial"/>
                <a:ea typeface="Arial"/>
                <a:cs typeface="Arial"/>
                <a:sym typeface="Arial"/>
              </a:rPr>
              <a:t>Retention spend reaches customers who would otherwise leave unnoticed, with a hit rate that can be measured and improved every cycle rather than assumed.</a:t>
            </a:r>
            <a:endParaRPr b="0" i="0" sz="1800" u="none" cap="none" strike="noStrike">
              <a:solidFill>
                <a:schemeClr val="dk1"/>
              </a:solidFill>
              <a:latin typeface="Calibri"/>
              <a:ea typeface="Calibri"/>
              <a:cs typeface="Calibri"/>
              <a:sym typeface="Calibri"/>
            </a:endParaRPr>
          </a:p>
        </p:txBody>
      </p:sp>
      <p:sp>
        <p:nvSpPr>
          <p:cNvPr id="185" name="Google Shape;185;p36"/>
          <p:cNvSpPr/>
          <p:nvPr/>
        </p:nvSpPr>
        <p:spPr>
          <a:xfrm>
            <a:off x="12115800" y="2372817"/>
            <a:ext cx="5029200" cy="7228384"/>
          </a:xfrm>
          <a:prstGeom prst="roundRect">
            <a:avLst>
              <a:gd fmla="val 1136" name="adj"/>
            </a:avLst>
          </a:prstGeom>
          <a:noFill/>
          <a:ln cap="flat" cmpd="sng" w="19050">
            <a:solidFill>
              <a:srgbClr val="4D7FA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86" name="Google Shape;186;p36"/>
          <p:cNvPicPr preferRelativeResize="0"/>
          <p:nvPr/>
        </p:nvPicPr>
        <p:blipFill rotWithShape="1">
          <a:blip r:embed="rId5">
            <a:alphaModFix/>
          </a:blip>
          <a:srcRect b="0" l="0" r="0" t="0"/>
          <a:stretch/>
        </p:blipFill>
        <p:spPr>
          <a:xfrm>
            <a:off x="12534900" y="2868117"/>
            <a:ext cx="685800" cy="685800"/>
          </a:xfrm>
          <a:prstGeom prst="rect">
            <a:avLst/>
          </a:prstGeom>
          <a:noFill/>
          <a:ln>
            <a:noFill/>
          </a:ln>
        </p:spPr>
      </p:pic>
      <p:sp>
        <p:nvSpPr>
          <p:cNvPr id="187" name="Google Shape;187;p36"/>
          <p:cNvSpPr/>
          <p:nvPr/>
        </p:nvSpPr>
        <p:spPr>
          <a:xfrm>
            <a:off x="12534900" y="3896817"/>
            <a:ext cx="4610100" cy="3429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2F4156"/>
              </a:buClr>
              <a:buSzPts val="2100"/>
              <a:buFont typeface="Arial"/>
              <a:buNone/>
            </a:pPr>
            <a:r>
              <a:rPr b="1" i="0" lang="en-US" sz="2100" u="none" cap="none" strike="noStrike">
                <a:solidFill>
                  <a:srgbClr val="2F4156"/>
                </a:solidFill>
                <a:latin typeface="Arial"/>
                <a:ea typeface="Arial"/>
                <a:cs typeface="Arial"/>
                <a:sym typeface="Arial"/>
              </a:rPr>
              <a:t>Caution</a:t>
            </a:r>
            <a:endParaRPr b="0" i="0" sz="2100" u="none" cap="none" strike="noStrike">
              <a:solidFill>
                <a:schemeClr val="dk1"/>
              </a:solidFill>
              <a:latin typeface="Calibri"/>
              <a:ea typeface="Calibri"/>
              <a:cs typeface="Calibri"/>
              <a:sym typeface="Calibri"/>
            </a:endParaRPr>
          </a:p>
        </p:txBody>
      </p:sp>
      <p:sp>
        <p:nvSpPr>
          <p:cNvPr id="188" name="Google Shape;188;p36"/>
          <p:cNvSpPr/>
          <p:nvPr/>
        </p:nvSpPr>
        <p:spPr>
          <a:xfrm>
            <a:off x="12534900" y="4354017"/>
            <a:ext cx="4316730" cy="1135261"/>
          </a:xfrm>
          <a:prstGeom prst="rect">
            <a:avLst/>
          </a:prstGeom>
          <a:noFill/>
          <a:ln>
            <a:noFill/>
          </a:ln>
        </p:spPr>
        <p:txBody>
          <a:bodyPr anchorCtr="0" anchor="t" bIns="25400" lIns="25400" spcFirstLastPara="1" rIns="25400" wrap="square" tIns="25400">
            <a:normAutofit/>
          </a:bodyPr>
          <a:lstStyle/>
          <a:p>
            <a:pPr indent="0" lvl="0" marL="0" marR="0" rtl="0" algn="l">
              <a:lnSpc>
                <a:spcPct val="160000"/>
              </a:lnSpc>
              <a:spcBef>
                <a:spcPts val="0"/>
              </a:spcBef>
              <a:spcAft>
                <a:spcPts val="0"/>
              </a:spcAft>
              <a:buClr>
                <a:srgbClr val="4A5A6A"/>
              </a:buClr>
              <a:buSzPts val="1800"/>
              <a:buFont typeface="Arial"/>
              <a:buNone/>
            </a:pPr>
            <a:r>
              <a:rPr b="0" i="0" lang="en-US" sz="1800" u="none" cap="none" strike="noStrike">
                <a:solidFill>
                  <a:srgbClr val="4A5A6A"/>
                </a:solidFill>
                <a:latin typeface="Arial"/>
                <a:ea typeface="Arial"/>
                <a:cs typeface="Arial"/>
                <a:sym typeface="Arial"/>
              </a:rPr>
              <a:t>The model ranks who to approach. It does not explain why they are leaving, and choosing the right offer still needs a human decision.</a:t>
            </a:r>
            <a:endParaRPr b="0" i="0" sz="1800" u="none" cap="none" strike="noStrike">
              <a:solidFill>
                <a:schemeClr val="dk1"/>
              </a:solidFill>
              <a:latin typeface="Calibri"/>
              <a:ea typeface="Calibri"/>
              <a:cs typeface="Calibri"/>
              <a:sym typeface="Calibri"/>
            </a:endParaRPr>
          </a:p>
        </p:txBody>
      </p:sp>
      <p:pic>
        <p:nvPicPr>
          <p:cNvPr descr="preencoded.png" id="189" name="Google Shape;189;p36"/>
          <p:cNvPicPr preferRelativeResize="0"/>
          <p:nvPr/>
        </p:nvPicPr>
        <p:blipFill rotWithShape="1">
          <a:blip r:embed="rId6">
            <a:alphaModFix amt="55000"/>
          </a:blip>
          <a:srcRect b="0" l="0" r="0" t="0"/>
          <a:stretch/>
        </p:blipFill>
        <p:spPr>
          <a:xfrm>
            <a:off x="16097250" y="8625682"/>
            <a:ext cx="1047750" cy="97551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EF"/>
        </a:solidFill>
      </p:bgPr>
    </p:bg>
    <p:spTree>
      <p:nvGrpSpPr>
        <p:cNvPr id="194" name="Shape 194"/>
        <p:cNvGrpSpPr/>
        <p:nvPr/>
      </p:nvGrpSpPr>
      <p:grpSpPr>
        <a:xfrm>
          <a:off x="0" y="0"/>
          <a:ext cx="0" cy="0"/>
          <a:chOff x="0" y="0"/>
          <a:chExt cx="0" cy="0"/>
        </a:xfrm>
      </p:grpSpPr>
      <p:sp>
        <p:nvSpPr>
          <p:cNvPr id="195" name="Google Shape;195;p31"/>
          <p:cNvSpPr/>
          <p:nvPr/>
        </p:nvSpPr>
        <p:spPr>
          <a:xfrm>
            <a:off x="0" y="0"/>
            <a:ext cx="18288000" cy="57150"/>
          </a:xfrm>
          <a:prstGeom prst="rect">
            <a:avLst/>
          </a:prstGeom>
          <a:solidFill>
            <a:srgbClr val="659B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31"/>
          <p:cNvSpPr/>
          <p:nvPr/>
        </p:nvSpPr>
        <p:spPr>
          <a:xfrm>
            <a:off x="1143000" y="2806799"/>
            <a:ext cx="5948492" cy="3048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659BB9"/>
              </a:buClr>
              <a:buSzPts val="1800"/>
              <a:buFont typeface="Arial"/>
              <a:buNone/>
            </a:pPr>
            <a:r>
              <a:rPr b="0" i="0" lang="en-US" sz="1800" u="none" cap="none" strike="noStrike">
                <a:solidFill>
                  <a:srgbClr val="659BB9"/>
                </a:solidFill>
                <a:latin typeface="Arial"/>
                <a:ea typeface="Arial"/>
                <a:cs typeface="Arial"/>
                <a:sym typeface="Arial"/>
              </a:rPr>
              <a:t>WRAP-UP</a:t>
            </a:r>
            <a:endParaRPr b="0" i="0" sz="1800" u="none" cap="none" strike="noStrike">
              <a:solidFill>
                <a:schemeClr val="dk1"/>
              </a:solidFill>
              <a:latin typeface="Calibri"/>
              <a:ea typeface="Calibri"/>
              <a:cs typeface="Calibri"/>
              <a:sym typeface="Calibri"/>
            </a:endParaRPr>
          </a:p>
        </p:txBody>
      </p:sp>
      <p:sp>
        <p:nvSpPr>
          <p:cNvPr id="197" name="Google Shape;197;p31"/>
          <p:cNvSpPr/>
          <p:nvPr/>
        </p:nvSpPr>
        <p:spPr>
          <a:xfrm>
            <a:off x="1143000" y="3225899"/>
            <a:ext cx="5948492" cy="696416"/>
          </a:xfrm>
          <a:prstGeom prst="rect">
            <a:avLst/>
          </a:prstGeom>
          <a:noFill/>
          <a:ln>
            <a:noFill/>
          </a:ln>
        </p:spPr>
        <p:txBody>
          <a:bodyPr anchorCtr="0" anchor="t" bIns="25400" lIns="25400" spcFirstLastPara="1" rIns="25400" wrap="square" tIns="25400">
            <a:normAutofit/>
          </a:bodyPr>
          <a:lstStyle/>
          <a:p>
            <a:pPr indent="0" lvl="0" marL="0" marR="0" rtl="0" algn="l">
              <a:lnSpc>
                <a:spcPct val="108000"/>
              </a:lnSpc>
              <a:spcBef>
                <a:spcPts val="0"/>
              </a:spcBef>
              <a:spcAft>
                <a:spcPts val="0"/>
              </a:spcAft>
              <a:buClr>
                <a:srgbClr val="2F4156"/>
              </a:buClr>
              <a:buSzPts val="4800"/>
              <a:buFont typeface="Arial"/>
              <a:buNone/>
            </a:pPr>
            <a:r>
              <a:rPr b="1" i="0" lang="en-US" sz="4800" u="none" cap="none" strike="noStrike">
                <a:solidFill>
                  <a:srgbClr val="2F4156"/>
                </a:solidFill>
                <a:latin typeface="Arial"/>
                <a:ea typeface="Arial"/>
                <a:cs typeface="Arial"/>
                <a:sym typeface="Arial"/>
              </a:rPr>
              <a:t>Conclusion</a:t>
            </a:r>
            <a:endParaRPr b="0" i="0" sz="4800" u="none" cap="none" strike="noStrike">
              <a:solidFill>
                <a:schemeClr val="dk1"/>
              </a:solidFill>
              <a:latin typeface="Calibri"/>
              <a:ea typeface="Calibri"/>
              <a:cs typeface="Calibri"/>
              <a:sym typeface="Calibri"/>
            </a:endParaRPr>
          </a:p>
        </p:txBody>
      </p:sp>
      <p:sp>
        <p:nvSpPr>
          <p:cNvPr id="198" name="Google Shape;198;p31"/>
          <p:cNvSpPr/>
          <p:nvPr/>
        </p:nvSpPr>
        <p:spPr>
          <a:xfrm>
            <a:off x="1143000" y="4150916"/>
            <a:ext cx="5297805" cy="1744663"/>
          </a:xfrm>
          <a:prstGeom prst="rect">
            <a:avLst/>
          </a:prstGeom>
          <a:noFill/>
          <a:ln>
            <a:noFill/>
          </a:ln>
        </p:spPr>
        <p:txBody>
          <a:bodyPr anchorCtr="0" anchor="t" bIns="25400" lIns="25400" spcFirstLastPara="1" rIns="25400" wrap="square" tIns="25400">
            <a:normAutofit/>
          </a:bodyPr>
          <a:lstStyle/>
          <a:p>
            <a:pPr indent="0" lvl="0" marL="0" marR="0" rtl="0" algn="l">
              <a:lnSpc>
                <a:spcPct val="160000"/>
              </a:lnSpc>
              <a:spcBef>
                <a:spcPts val="0"/>
              </a:spcBef>
              <a:spcAft>
                <a:spcPts val="0"/>
              </a:spcAft>
              <a:buClr>
                <a:srgbClr val="7A8E9E"/>
              </a:buClr>
              <a:buSzPts val="2100"/>
              <a:buFont typeface="Arial"/>
              <a:buNone/>
            </a:pPr>
            <a:r>
              <a:rPr b="0" i="0" lang="en-US" sz="2100" u="none" cap="none" strike="noStrike">
                <a:solidFill>
                  <a:srgbClr val="7A8E9E"/>
                </a:solidFill>
                <a:latin typeface="Arial"/>
                <a:ea typeface="Arial"/>
                <a:cs typeface="Arial"/>
                <a:sym typeface="Arial"/>
              </a:rPr>
              <a:t>The value of a churn model is not the accuracy score it reports. It is whether it produces a list short enough for a team to work through, early enough to act on, and reliable enough that they keep using it after the first month.</a:t>
            </a:r>
            <a:endParaRPr b="0" i="0" sz="2100" u="none" cap="none" strike="noStrike">
              <a:solidFill>
                <a:schemeClr val="dk1"/>
              </a:solidFill>
              <a:latin typeface="Calibri"/>
              <a:ea typeface="Calibri"/>
              <a:cs typeface="Calibri"/>
              <a:sym typeface="Calibri"/>
            </a:endParaRPr>
          </a:p>
        </p:txBody>
      </p:sp>
      <p:sp>
        <p:nvSpPr>
          <p:cNvPr id="199" name="Google Shape;199;p31"/>
          <p:cNvSpPr/>
          <p:nvPr/>
        </p:nvSpPr>
        <p:spPr>
          <a:xfrm>
            <a:off x="7312720" y="2743200"/>
            <a:ext cx="495300" cy="495300"/>
          </a:xfrm>
          <a:prstGeom prst="ellipse">
            <a:avLst/>
          </a:prstGeom>
          <a:solidFill>
            <a:srgbClr val="659BB9">
              <a:alpha val="2196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00" name="Google Shape;200;p31"/>
          <p:cNvPicPr preferRelativeResize="0"/>
          <p:nvPr/>
        </p:nvPicPr>
        <p:blipFill rotWithShape="1">
          <a:blip r:embed="rId3">
            <a:alphaModFix/>
          </a:blip>
          <a:srcRect b="0" l="0" r="0" t="0"/>
          <a:stretch/>
        </p:blipFill>
        <p:spPr>
          <a:xfrm>
            <a:off x="7436545" y="2867025"/>
            <a:ext cx="247650" cy="247650"/>
          </a:xfrm>
          <a:prstGeom prst="rect">
            <a:avLst/>
          </a:prstGeom>
          <a:noFill/>
          <a:ln>
            <a:noFill/>
          </a:ln>
        </p:spPr>
      </p:pic>
      <p:sp>
        <p:nvSpPr>
          <p:cNvPr id="201" name="Google Shape;201;p31"/>
          <p:cNvSpPr/>
          <p:nvPr/>
        </p:nvSpPr>
        <p:spPr>
          <a:xfrm>
            <a:off x="8036620" y="2724150"/>
            <a:ext cx="10019219" cy="3429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2F4156"/>
              </a:buClr>
              <a:buSzPts val="2100"/>
              <a:buFont typeface="Arial"/>
              <a:buNone/>
            </a:pPr>
            <a:r>
              <a:rPr b="1" i="0" lang="en-US" sz="2100" u="none" cap="none" strike="noStrike">
                <a:solidFill>
                  <a:srgbClr val="2F4156"/>
                </a:solidFill>
                <a:latin typeface="Arial"/>
                <a:ea typeface="Arial"/>
                <a:cs typeface="Arial"/>
                <a:sym typeface="Arial"/>
              </a:rPr>
              <a:t>Timing is the whole product</a:t>
            </a:r>
            <a:endParaRPr b="0" i="0" sz="2100" u="none" cap="none" strike="noStrike">
              <a:solidFill>
                <a:schemeClr val="dk1"/>
              </a:solidFill>
              <a:latin typeface="Calibri"/>
              <a:ea typeface="Calibri"/>
              <a:cs typeface="Calibri"/>
              <a:sym typeface="Calibri"/>
            </a:endParaRPr>
          </a:p>
        </p:txBody>
      </p:sp>
      <p:sp>
        <p:nvSpPr>
          <p:cNvPr id="202" name="Google Shape;202;p31"/>
          <p:cNvSpPr/>
          <p:nvPr/>
        </p:nvSpPr>
        <p:spPr>
          <a:xfrm>
            <a:off x="8036620" y="3086100"/>
            <a:ext cx="9381632" cy="7239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7A8E9E"/>
              </a:buClr>
              <a:buSzPts val="1800"/>
              <a:buFont typeface="Arial"/>
              <a:buNone/>
            </a:pPr>
            <a:r>
              <a:rPr b="0" i="0" lang="en-US" sz="1800" u="none" cap="none" strike="noStrike">
                <a:solidFill>
                  <a:srgbClr val="7A8E9E"/>
                </a:solidFill>
                <a:latin typeface="Arial"/>
                <a:ea typeface="Arial"/>
                <a:cs typeface="Arial"/>
                <a:sym typeface="Arial"/>
              </a:rPr>
              <a:t>A prediction that arrives after the customer has gone is a report. Four weeks of warning is what turns it into an intervention</a:t>
            </a:r>
            <a:endParaRPr b="0" i="0" sz="1800" u="none" cap="none" strike="noStrike">
              <a:solidFill>
                <a:schemeClr val="dk1"/>
              </a:solidFill>
              <a:latin typeface="Calibri"/>
              <a:ea typeface="Calibri"/>
              <a:cs typeface="Calibri"/>
              <a:sym typeface="Calibri"/>
            </a:endParaRPr>
          </a:p>
        </p:txBody>
      </p:sp>
      <p:sp>
        <p:nvSpPr>
          <p:cNvPr id="203" name="Google Shape;203;p31"/>
          <p:cNvSpPr/>
          <p:nvPr/>
        </p:nvSpPr>
        <p:spPr>
          <a:xfrm>
            <a:off x="7312720" y="4057650"/>
            <a:ext cx="495300" cy="495300"/>
          </a:xfrm>
          <a:prstGeom prst="ellipse">
            <a:avLst/>
          </a:prstGeom>
          <a:solidFill>
            <a:srgbClr val="659BB9">
              <a:alpha val="2196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04" name="Google Shape;204;p31"/>
          <p:cNvPicPr preferRelativeResize="0"/>
          <p:nvPr/>
        </p:nvPicPr>
        <p:blipFill rotWithShape="1">
          <a:blip r:embed="rId3">
            <a:alphaModFix/>
          </a:blip>
          <a:srcRect b="0" l="0" r="0" t="0"/>
          <a:stretch/>
        </p:blipFill>
        <p:spPr>
          <a:xfrm>
            <a:off x="7436545" y="4181475"/>
            <a:ext cx="247650" cy="247650"/>
          </a:xfrm>
          <a:prstGeom prst="rect">
            <a:avLst/>
          </a:prstGeom>
          <a:noFill/>
          <a:ln>
            <a:noFill/>
          </a:ln>
        </p:spPr>
      </p:pic>
      <p:sp>
        <p:nvSpPr>
          <p:cNvPr id="205" name="Google Shape;205;p31"/>
          <p:cNvSpPr/>
          <p:nvPr/>
        </p:nvSpPr>
        <p:spPr>
          <a:xfrm>
            <a:off x="8036620" y="4038600"/>
            <a:ext cx="10019219" cy="3429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2F4156"/>
              </a:buClr>
              <a:buSzPts val="2100"/>
              <a:buFont typeface="Arial"/>
              <a:buNone/>
            </a:pPr>
            <a:r>
              <a:rPr b="1" i="0" lang="en-US" sz="2100" u="none" cap="none" strike="noStrike">
                <a:solidFill>
                  <a:srgbClr val="2F4156"/>
                </a:solidFill>
                <a:latin typeface="Arial"/>
                <a:ea typeface="Arial"/>
                <a:cs typeface="Arial"/>
                <a:sym typeface="Arial"/>
              </a:rPr>
              <a:t>A short list beats a better score</a:t>
            </a:r>
            <a:endParaRPr b="0" i="0" sz="2100" u="none" cap="none" strike="noStrike">
              <a:solidFill>
                <a:schemeClr val="dk1"/>
              </a:solidFill>
              <a:latin typeface="Calibri"/>
              <a:ea typeface="Calibri"/>
              <a:cs typeface="Calibri"/>
              <a:sym typeface="Calibri"/>
            </a:endParaRPr>
          </a:p>
        </p:txBody>
      </p:sp>
      <p:sp>
        <p:nvSpPr>
          <p:cNvPr id="206" name="Google Shape;206;p31"/>
          <p:cNvSpPr/>
          <p:nvPr/>
        </p:nvSpPr>
        <p:spPr>
          <a:xfrm>
            <a:off x="8036620" y="4400550"/>
            <a:ext cx="9381632" cy="7239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7A8E9E"/>
              </a:buClr>
              <a:buSzPts val="1800"/>
              <a:buFont typeface="Arial"/>
              <a:buNone/>
            </a:pPr>
            <a:r>
              <a:rPr b="0" i="0" lang="en-US" sz="1800" u="none" cap="none" strike="noStrike">
                <a:solidFill>
                  <a:srgbClr val="7A8E9E"/>
                </a:solidFill>
                <a:latin typeface="Arial"/>
                <a:ea typeface="Arial"/>
                <a:cs typeface="Arial"/>
                <a:sym typeface="Arial"/>
              </a:rPr>
              <a:t>Fifty names with three in four correct is worth more to a retention team than a marginally stronger model scoring the whole base</a:t>
            </a:r>
            <a:endParaRPr b="0" i="0" sz="1800" u="none" cap="none" strike="noStrike">
              <a:solidFill>
                <a:schemeClr val="dk1"/>
              </a:solidFill>
              <a:latin typeface="Calibri"/>
              <a:ea typeface="Calibri"/>
              <a:cs typeface="Calibri"/>
              <a:sym typeface="Calibri"/>
            </a:endParaRPr>
          </a:p>
        </p:txBody>
      </p:sp>
      <p:sp>
        <p:nvSpPr>
          <p:cNvPr id="207" name="Google Shape;207;p31"/>
          <p:cNvSpPr/>
          <p:nvPr/>
        </p:nvSpPr>
        <p:spPr>
          <a:xfrm>
            <a:off x="7312720" y="5372100"/>
            <a:ext cx="495300" cy="495300"/>
          </a:xfrm>
          <a:prstGeom prst="ellipse">
            <a:avLst/>
          </a:prstGeom>
          <a:solidFill>
            <a:srgbClr val="659BB9">
              <a:alpha val="2196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08" name="Google Shape;208;p31"/>
          <p:cNvPicPr preferRelativeResize="0"/>
          <p:nvPr/>
        </p:nvPicPr>
        <p:blipFill rotWithShape="1">
          <a:blip r:embed="rId3">
            <a:alphaModFix/>
          </a:blip>
          <a:srcRect b="0" l="0" r="0" t="0"/>
          <a:stretch/>
        </p:blipFill>
        <p:spPr>
          <a:xfrm>
            <a:off x="7436545" y="5495925"/>
            <a:ext cx="247650" cy="247650"/>
          </a:xfrm>
          <a:prstGeom prst="rect">
            <a:avLst/>
          </a:prstGeom>
          <a:noFill/>
          <a:ln>
            <a:noFill/>
          </a:ln>
        </p:spPr>
      </p:pic>
      <p:sp>
        <p:nvSpPr>
          <p:cNvPr id="209" name="Google Shape;209;p31"/>
          <p:cNvSpPr/>
          <p:nvPr/>
        </p:nvSpPr>
        <p:spPr>
          <a:xfrm>
            <a:off x="8036620" y="5353050"/>
            <a:ext cx="10019219" cy="3429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2F4156"/>
              </a:buClr>
              <a:buSzPts val="2100"/>
              <a:buFont typeface="Arial"/>
              <a:buNone/>
            </a:pPr>
            <a:r>
              <a:rPr b="1" i="0" lang="en-US" sz="2100" u="none" cap="none" strike="noStrike">
                <a:solidFill>
                  <a:srgbClr val="2F4156"/>
                </a:solidFill>
                <a:latin typeface="Arial"/>
                <a:ea typeface="Arial"/>
                <a:cs typeface="Arial"/>
                <a:sym typeface="Arial"/>
              </a:rPr>
              <a:t>Test the obvious explanation first</a:t>
            </a:r>
            <a:endParaRPr b="0" i="0" sz="2100" u="none" cap="none" strike="noStrike">
              <a:solidFill>
                <a:schemeClr val="dk1"/>
              </a:solidFill>
              <a:latin typeface="Calibri"/>
              <a:ea typeface="Calibri"/>
              <a:cs typeface="Calibri"/>
              <a:sym typeface="Calibri"/>
            </a:endParaRPr>
          </a:p>
        </p:txBody>
      </p:sp>
      <p:sp>
        <p:nvSpPr>
          <p:cNvPr id="210" name="Google Shape;210;p31"/>
          <p:cNvSpPr/>
          <p:nvPr/>
        </p:nvSpPr>
        <p:spPr>
          <a:xfrm>
            <a:off x="8036620" y="5715000"/>
            <a:ext cx="9381632" cy="7239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7A8E9E"/>
              </a:buClr>
              <a:buSzPts val="1800"/>
              <a:buFont typeface="Arial"/>
              <a:buNone/>
            </a:pPr>
            <a:r>
              <a:rPr b="0" i="0" lang="en-US" sz="1800" u="none" cap="none" strike="noStrike">
                <a:solidFill>
                  <a:srgbClr val="7A8E9E"/>
                </a:solidFill>
                <a:latin typeface="Arial"/>
                <a:ea typeface="Arial"/>
                <a:cs typeface="Arial"/>
                <a:sym typeface="Arial"/>
              </a:rPr>
              <a:t>Several promising signals turned out to be shopping frequency in disguise, and checking that before launch avoids acting on an effect that was never there</a:t>
            </a:r>
            <a:endParaRPr b="0" i="0" sz="1800" u="none" cap="none" strike="noStrike">
              <a:solidFill>
                <a:schemeClr val="dk1"/>
              </a:solidFill>
              <a:latin typeface="Calibri"/>
              <a:ea typeface="Calibri"/>
              <a:cs typeface="Calibri"/>
              <a:sym typeface="Calibri"/>
            </a:endParaRPr>
          </a:p>
        </p:txBody>
      </p:sp>
      <p:sp>
        <p:nvSpPr>
          <p:cNvPr id="211" name="Google Shape;211;p31"/>
          <p:cNvSpPr/>
          <p:nvPr/>
        </p:nvSpPr>
        <p:spPr>
          <a:xfrm>
            <a:off x="7312720" y="6686550"/>
            <a:ext cx="495300" cy="495300"/>
          </a:xfrm>
          <a:prstGeom prst="ellipse">
            <a:avLst/>
          </a:prstGeom>
          <a:solidFill>
            <a:srgbClr val="659B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12" name="Google Shape;212;p31"/>
          <p:cNvPicPr preferRelativeResize="0"/>
          <p:nvPr/>
        </p:nvPicPr>
        <p:blipFill rotWithShape="1">
          <a:blip r:embed="rId4">
            <a:alphaModFix/>
          </a:blip>
          <a:srcRect b="0" l="0" r="0" t="0"/>
          <a:stretch/>
        </p:blipFill>
        <p:spPr>
          <a:xfrm>
            <a:off x="7436545" y="6810375"/>
            <a:ext cx="247650" cy="247650"/>
          </a:xfrm>
          <a:prstGeom prst="rect">
            <a:avLst/>
          </a:prstGeom>
          <a:noFill/>
          <a:ln>
            <a:noFill/>
          </a:ln>
        </p:spPr>
      </p:pic>
      <p:sp>
        <p:nvSpPr>
          <p:cNvPr id="213" name="Google Shape;213;p31"/>
          <p:cNvSpPr/>
          <p:nvPr/>
        </p:nvSpPr>
        <p:spPr>
          <a:xfrm>
            <a:off x="8036620" y="6667500"/>
            <a:ext cx="10019219" cy="3429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2F4156"/>
              </a:buClr>
              <a:buSzPts val="2100"/>
              <a:buFont typeface="Arial"/>
              <a:buNone/>
            </a:pPr>
            <a:r>
              <a:rPr b="1" i="0" lang="en-US" sz="2100" u="none" cap="none" strike="noStrike">
                <a:solidFill>
                  <a:srgbClr val="2F4156"/>
                </a:solidFill>
                <a:latin typeface="Arial"/>
                <a:ea typeface="Arial"/>
                <a:cs typeface="Arial"/>
                <a:sym typeface="Arial"/>
              </a:rPr>
              <a:t>Next step</a:t>
            </a:r>
            <a:endParaRPr b="0" i="0" sz="2100" u="none" cap="none" strike="noStrike">
              <a:solidFill>
                <a:schemeClr val="dk1"/>
              </a:solidFill>
              <a:latin typeface="Calibri"/>
              <a:ea typeface="Calibri"/>
              <a:cs typeface="Calibri"/>
              <a:sym typeface="Calibri"/>
            </a:endParaRPr>
          </a:p>
        </p:txBody>
      </p:sp>
      <p:sp>
        <p:nvSpPr>
          <p:cNvPr id="214" name="Google Shape;214;p31"/>
          <p:cNvSpPr/>
          <p:nvPr/>
        </p:nvSpPr>
        <p:spPr>
          <a:xfrm>
            <a:off x="8036620" y="7029450"/>
            <a:ext cx="9381632" cy="7239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7A8E9E"/>
              </a:buClr>
              <a:buSzPts val="1800"/>
              <a:buFont typeface="Arial"/>
              <a:buNone/>
            </a:pPr>
            <a:r>
              <a:rPr b="0" i="0" lang="en-US" sz="1800" u="none" cap="none" strike="noStrike">
                <a:solidFill>
                  <a:srgbClr val="7A8E9E"/>
                </a:solidFill>
                <a:latin typeface="Arial"/>
                <a:ea typeface="Arial"/>
                <a:cs typeface="Arial"/>
                <a:sym typeface="Arial"/>
              </a:rPr>
              <a:t>Score the base at several dates across the year to sharpen the model, and measure retention lift against a held-back control group</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EF"/>
        </a:solidFill>
      </p:bgPr>
    </p:bg>
    <p:spTree>
      <p:nvGrpSpPr>
        <p:cNvPr id="219" name="Shape 219"/>
        <p:cNvGrpSpPr/>
        <p:nvPr/>
      </p:nvGrpSpPr>
      <p:grpSpPr>
        <a:xfrm>
          <a:off x="0" y="0"/>
          <a:ext cx="0" cy="0"/>
          <a:chOff x="0" y="0"/>
          <a:chExt cx="0" cy="0"/>
        </a:xfrm>
      </p:grpSpPr>
      <p:sp>
        <p:nvSpPr>
          <p:cNvPr id="220" name="Google Shape;220;p13"/>
          <p:cNvSpPr/>
          <p:nvPr/>
        </p:nvSpPr>
        <p:spPr>
          <a:xfrm>
            <a:off x="0" y="0"/>
            <a:ext cx="4953000" cy="10287000"/>
          </a:xfrm>
          <a:prstGeom prst="rect">
            <a:avLst/>
          </a:prstGeom>
          <a:solidFill>
            <a:srgbClr val="2F415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21" name="Google Shape;221;p13"/>
          <p:cNvPicPr preferRelativeResize="0"/>
          <p:nvPr/>
        </p:nvPicPr>
        <p:blipFill rotWithShape="1">
          <a:blip r:embed="rId3">
            <a:alphaModFix/>
          </a:blip>
          <a:srcRect b="0" l="0" r="0" t="0"/>
          <a:stretch/>
        </p:blipFill>
        <p:spPr>
          <a:xfrm>
            <a:off x="1047750" y="3813175"/>
            <a:ext cx="2857500" cy="2660650"/>
          </a:xfrm>
          <a:prstGeom prst="rect">
            <a:avLst/>
          </a:prstGeom>
          <a:noFill/>
          <a:ln>
            <a:noFill/>
          </a:ln>
        </p:spPr>
      </p:pic>
      <p:sp>
        <p:nvSpPr>
          <p:cNvPr id="222" name="Google Shape;222;p13"/>
          <p:cNvSpPr/>
          <p:nvPr/>
        </p:nvSpPr>
        <p:spPr>
          <a:xfrm>
            <a:off x="6096000" y="2808089"/>
            <a:ext cx="1734135" cy="3048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659BB9"/>
              </a:buClr>
              <a:buSzPts val="1800"/>
              <a:buFont typeface="Arial"/>
              <a:buNone/>
            </a:pPr>
            <a:r>
              <a:rPr b="0" i="0" lang="en-US" sz="1800" u="none" cap="none" strike="noStrike">
                <a:solidFill>
                  <a:srgbClr val="659BB9"/>
                </a:solidFill>
                <a:latin typeface="Arial"/>
                <a:ea typeface="Arial"/>
                <a:cs typeface="Arial"/>
                <a:sym typeface="Arial"/>
              </a:rPr>
              <a:t>THANK YOU</a:t>
            </a:r>
            <a:endParaRPr b="0" i="0" sz="1800" u="none" cap="none" strike="noStrike">
              <a:solidFill>
                <a:schemeClr val="dk1"/>
              </a:solidFill>
              <a:latin typeface="Calibri"/>
              <a:ea typeface="Calibri"/>
              <a:cs typeface="Calibri"/>
              <a:sym typeface="Calibri"/>
            </a:endParaRPr>
          </a:p>
        </p:txBody>
      </p:sp>
      <p:sp>
        <p:nvSpPr>
          <p:cNvPr id="223" name="Google Shape;223;p13"/>
          <p:cNvSpPr/>
          <p:nvPr/>
        </p:nvSpPr>
        <p:spPr>
          <a:xfrm>
            <a:off x="6096000" y="3379589"/>
            <a:ext cx="3856375" cy="9525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2F4156"/>
              </a:buClr>
              <a:buSzPts val="7200"/>
              <a:buFont typeface="Arial"/>
              <a:buNone/>
            </a:pPr>
            <a:r>
              <a:rPr b="1" i="0" lang="en-US" sz="7200" u="none" cap="none" strike="noStrike">
                <a:solidFill>
                  <a:srgbClr val="2F4156"/>
                </a:solidFill>
                <a:latin typeface="Arial"/>
                <a:ea typeface="Arial"/>
                <a:cs typeface="Arial"/>
                <a:sym typeface="Arial"/>
              </a:rPr>
              <a:t>Thanks!</a:t>
            </a:r>
            <a:endParaRPr b="0" i="0" sz="7200" u="none" cap="none" strike="noStrike">
              <a:solidFill>
                <a:schemeClr val="dk1"/>
              </a:solidFill>
              <a:latin typeface="Calibri"/>
              <a:ea typeface="Calibri"/>
              <a:cs typeface="Calibri"/>
              <a:sym typeface="Calibri"/>
            </a:endParaRPr>
          </a:p>
        </p:txBody>
      </p:sp>
      <p:sp>
        <p:nvSpPr>
          <p:cNvPr id="224" name="Google Shape;224;p13"/>
          <p:cNvSpPr/>
          <p:nvPr/>
        </p:nvSpPr>
        <p:spPr>
          <a:xfrm>
            <a:off x="6096000" y="4636889"/>
            <a:ext cx="8044815" cy="1318022"/>
          </a:xfrm>
          <a:prstGeom prst="rect">
            <a:avLst/>
          </a:prstGeom>
          <a:noFill/>
          <a:ln>
            <a:noFill/>
          </a:ln>
        </p:spPr>
        <p:txBody>
          <a:bodyPr anchorCtr="0" anchor="t" bIns="25400" lIns="25400" spcFirstLastPara="1" rIns="25400" wrap="square" tIns="25400">
            <a:normAutofit/>
          </a:bodyPr>
          <a:lstStyle/>
          <a:p>
            <a:pPr indent="0" lvl="0" marL="0" marR="0" rtl="0" algn="l">
              <a:lnSpc>
                <a:spcPct val="160000"/>
              </a:lnSpc>
              <a:spcBef>
                <a:spcPts val="0"/>
              </a:spcBef>
              <a:spcAft>
                <a:spcPts val="0"/>
              </a:spcAft>
              <a:buClr>
                <a:srgbClr val="4A5A6A"/>
              </a:buClr>
              <a:buSzPts val="2100"/>
              <a:buFont typeface="Arial"/>
              <a:buNone/>
            </a:pPr>
            <a:r>
              <a:rPr b="0" i="0" lang="en-US" sz="2100" u="none" cap="none" strike="noStrike">
                <a:solidFill>
                  <a:srgbClr val="4A5A6A"/>
                </a:solidFill>
                <a:latin typeface="Arial"/>
                <a:ea typeface="Arial"/>
                <a:cs typeface="Arial"/>
                <a:sym typeface="Arial"/>
              </a:rPr>
              <a:t>If you enjoyed this content and want to explore more data topics, connect on LinkedIn or subscribe for future posts and discussions.</a:t>
            </a:r>
            <a:endParaRPr b="0" i="0" sz="2100" u="none" cap="none" strike="noStrike">
              <a:solidFill>
                <a:schemeClr val="dk1"/>
              </a:solidFill>
              <a:latin typeface="Calibri"/>
              <a:ea typeface="Calibri"/>
              <a:cs typeface="Calibri"/>
              <a:sym typeface="Calibri"/>
            </a:endParaRPr>
          </a:p>
        </p:txBody>
      </p:sp>
      <p:sp>
        <p:nvSpPr>
          <p:cNvPr id="225" name="Google Shape;225;p13"/>
          <p:cNvSpPr/>
          <p:nvPr/>
        </p:nvSpPr>
        <p:spPr>
          <a:xfrm>
            <a:off x="6096000" y="6450211"/>
            <a:ext cx="419100" cy="419100"/>
          </a:xfrm>
          <a:prstGeom prst="ellipse">
            <a:avLst/>
          </a:prstGeom>
          <a:noFill/>
          <a:ln cap="flat" cmpd="sng" w="12700">
            <a:solidFill>
              <a:srgbClr val="659BB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26" name="Google Shape;226;p13"/>
          <p:cNvPicPr preferRelativeResize="0"/>
          <p:nvPr/>
        </p:nvPicPr>
        <p:blipFill rotWithShape="1">
          <a:blip r:embed="rId4">
            <a:alphaModFix/>
          </a:blip>
          <a:srcRect b="0" l="0" r="0" t="0"/>
          <a:stretch/>
        </p:blipFill>
        <p:spPr>
          <a:xfrm>
            <a:off x="6210300" y="6564511"/>
            <a:ext cx="190500" cy="190500"/>
          </a:xfrm>
          <a:prstGeom prst="rect">
            <a:avLst/>
          </a:prstGeom>
          <a:noFill/>
          <a:ln>
            <a:noFill/>
          </a:ln>
        </p:spPr>
      </p:pic>
      <p:sp>
        <p:nvSpPr>
          <p:cNvPr id="227" name="Google Shape;227;p13"/>
          <p:cNvSpPr/>
          <p:nvPr/>
        </p:nvSpPr>
        <p:spPr>
          <a:xfrm>
            <a:off x="6705600" y="6507361"/>
            <a:ext cx="5609719" cy="3429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4A5A6A"/>
              </a:buClr>
              <a:buSzPts val="2100"/>
              <a:buFont typeface="Arial"/>
              <a:buNone/>
            </a:pPr>
            <a:r>
              <a:rPr b="0" i="0" lang="en-US" sz="2100" u="none" cap="none" strike="noStrike">
                <a:solidFill>
                  <a:srgbClr val="4A5A6A"/>
                </a:solidFill>
                <a:latin typeface="Arial"/>
                <a:ea typeface="Arial"/>
                <a:cs typeface="Arial"/>
                <a:sym typeface="Arial"/>
              </a:rPr>
              <a:t>linkedin.com/in/andrey-de-sousa-figueiredo</a:t>
            </a:r>
            <a:endParaRPr b="0" i="0" sz="2100" u="none" cap="none" strike="noStrike">
              <a:solidFill>
                <a:schemeClr val="dk1"/>
              </a:solidFill>
              <a:latin typeface="Calibri"/>
              <a:ea typeface="Calibri"/>
              <a:cs typeface="Calibri"/>
              <a:sym typeface="Calibri"/>
            </a:endParaRPr>
          </a:p>
        </p:txBody>
      </p:sp>
      <p:sp>
        <p:nvSpPr>
          <p:cNvPr id="228" name="Google Shape;228;p13"/>
          <p:cNvSpPr/>
          <p:nvPr/>
        </p:nvSpPr>
        <p:spPr>
          <a:xfrm>
            <a:off x="6096000" y="7059811"/>
            <a:ext cx="419100" cy="419100"/>
          </a:xfrm>
          <a:prstGeom prst="ellipse">
            <a:avLst/>
          </a:prstGeom>
          <a:noFill/>
          <a:ln cap="flat" cmpd="sng" w="12700">
            <a:solidFill>
              <a:srgbClr val="659BB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29" name="Google Shape;229;p13"/>
          <p:cNvPicPr preferRelativeResize="0"/>
          <p:nvPr/>
        </p:nvPicPr>
        <p:blipFill rotWithShape="1">
          <a:blip r:embed="rId5">
            <a:alphaModFix/>
          </a:blip>
          <a:srcRect b="0" l="0" r="0" t="0"/>
          <a:stretch/>
        </p:blipFill>
        <p:spPr>
          <a:xfrm>
            <a:off x="6210300" y="7174111"/>
            <a:ext cx="190500" cy="190500"/>
          </a:xfrm>
          <a:prstGeom prst="rect">
            <a:avLst/>
          </a:prstGeom>
          <a:noFill/>
          <a:ln>
            <a:noFill/>
          </a:ln>
        </p:spPr>
      </p:pic>
      <p:sp>
        <p:nvSpPr>
          <p:cNvPr id="230" name="Google Shape;230;p13"/>
          <p:cNvSpPr/>
          <p:nvPr/>
        </p:nvSpPr>
        <p:spPr>
          <a:xfrm>
            <a:off x="6705600" y="7116961"/>
            <a:ext cx="3967153" cy="3429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4A5A6A"/>
              </a:buClr>
              <a:buSzPts val="2100"/>
              <a:buFont typeface="Arial"/>
              <a:buNone/>
            </a:pPr>
            <a:r>
              <a:rPr b="0" i="0" lang="en-US" sz="2100" u="none" cap="none" strike="noStrike">
                <a:solidFill>
                  <a:srgbClr val="4A5A6A"/>
                </a:solidFill>
                <a:latin typeface="Arial"/>
                <a:ea typeface="Arial"/>
                <a:cs typeface="Arial"/>
                <a:sym typeface="Arial"/>
              </a:rPr>
              <a:t>andreydesousa92@gmail.com</a:t>
            </a:r>
            <a:endParaRPr b="0" i="0" sz="2100" u="none" cap="none" strike="noStrike">
              <a:solidFill>
                <a:schemeClr val="dk1"/>
              </a:solidFill>
              <a:latin typeface="Calibri"/>
              <a:ea typeface="Calibri"/>
              <a:cs typeface="Calibri"/>
              <a:sym typeface="Calibri"/>
            </a:endParaRPr>
          </a:p>
        </p:txBody>
      </p:sp>
      <p:pic>
        <p:nvPicPr>
          <p:cNvPr descr="preencoded.png" id="231" name="Google Shape;231;p13"/>
          <p:cNvPicPr preferRelativeResize="0"/>
          <p:nvPr/>
        </p:nvPicPr>
        <p:blipFill rotWithShape="1">
          <a:blip r:embed="rId6">
            <a:alphaModFix/>
          </a:blip>
          <a:srcRect b="0" l="0" r="0" t="0"/>
          <a:stretch/>
        </p:blipFill>
        <p:spPr>
          <a:xfrm>
            <a:off x="16325850" y="1524000"/>
            <a:ext cx="247650" cy="2476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2026-07-04T14:56:03Z</dcterms:created>
  <dc:creator>PptxGenJS</dc:creator>
</cp:coreProperties>
</file>